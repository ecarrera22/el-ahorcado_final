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7778750"/>
  <p:notesSz cx="14630400" cy="7778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5"/>
    <p:restoredTop sz="94661"/>
  </p:normalViewPr>
  <p:slideViewPr>
    <p:cSldViewPr>
      <p:cViewPr varScale="1">
        <p:scale>
          <a:sx n="88" d="100"/>
          <a:sy n="88" d="100"/>
        </p:scale>
        <p:origin x="648" y="4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411412"/>
            <a:ext cx="12435840" cy="16335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44372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356100"/>
            <a:ext cx="10241280" cy="19446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44372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44372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44372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44372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789112"/>
            <a:ext cx="6364224" cy="5133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789112"/>
            <a:ext cx="6364224" cy="5133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44372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7774305"/>
          </a:xfrm>
          <a:custGeom>
            <a:avLst/>
            <a:gdLst/>
            <a:ahLst/>
            <a:cxnLst/>
            <a:rect l="l" t="t" r="r" b="b"/>
            <a:pathLst>
              <a:path w="14630400" h="7774305">
                <a:moveTo>
                  <a:pt x="14630400" y="0"/>
                </a:moveTo>
                <a:lnTo>
                  <a:pt x="0" y="0"/>
                </a:lnTo>
                <a:lnTo>
                  <a:pt x="0" y="7774051"/>
                </a:lnTo>
                <a:lnTo>
                  <a:pt x="14630400" y="7774051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B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8176" y="7754111"/>
            <a:ext cx="1728216" cy="1993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486399" cy="777405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463" y="1655064"/>
            <a:ext cx="4919472" cy="49194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7774305"/>
          </a:xfrm>
          <a:custGeom>
            <a:avLst/>
            <a:gdLst/>
            <a:ahLst/>
            <a:cxnLst/>
            <a:rect l="l" t="t" r="r" b="b"/>
            <a:pathLst>
              <a:path w="14630400" h="7774305">
                <a:moveTo>
                  <a:pt x="14630400" y="0"/>
                </a:moveTo>
                <a:lnTo>
                  <a:pt x="0" y="0"/>
                </a:lnTo>
                <a:lnTo>
                  <a:pt x="0" y="7774051"/>
                </a:lnTo>
                <a:lnTo>
                  <a:pt x="14630400" y="7774051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B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8176" y="7754111"/>
            <a:ext cx="1728216" cy="199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570" y="944244"/>
            <a:ext cx="6017895" cy="10378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44372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19047" y="2145601"/>
            <a:ext cx="6137909" cy="5012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44372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234237"/>
            <a:ext cx="4681728" cy="388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234237"/>
            <a:ext cx="3364992" cy="388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234237"/>
            <a:ext cx="3364992" cy="388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43600" y="2668079"/>
            <a:ext cx="8153400" cy="29381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spc="9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</a:t>
            </a:r>
            <a:r>
              <a:rPr sz="2000" spc="-10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Internacional</a:t>
            </a:r>
            <a:r>
              <a:rPr sz="2400" spc="-85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9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000" spc="-95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8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Ecuador</a:t>
            </a:r>
            <a:r>
              <a:rPr sz="2000" spc="-85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"UIDE"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spc="6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Lógica</a:t>
            </a:r>
            <a:r>
              <a:rPr sz="2000" spc="-114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95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spc="-55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75" dirty="0" err="1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Programación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endParaRPr lang="en-US" sz="2000" spc="55" dirty="0">
              <a:solidFill>
                <a:srgbClr val="4437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spc="55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Eliab</a:t>
            </a:r>
            <a:r>
              <a:rPr sz="2000" spc="-75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7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Carrera </a:t>
            </a:r>
            <a:endParaRPr lang="en-US" sz="2000" spc="70" dirty="0">
              <a:solidFill>
                <a:srgbClr val="4437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endParaRPr lang="en-US" sz="2000" spc="70" dirty="0">
              <a:solidFill>
                <a:srgbClr val="4437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spc="65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Proyecto</a:t>
            </a:r>
            <a:r>
              <a:rPr sz="2000" spc="-4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7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</a:t>
            </a:r>
            <a:r>
              <a:rPr sz="2000" spc="-7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sz="2000" spc="-5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000" spc="-75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8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Ahorcado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82700" marR="1198245" indent="-81280" algn="ctr">
              <a:lnSpc>
                <a:spcPct val="231900"/>
              </a:lnSpc>
              <a:spcBef>
                <a:spcPts val="140"/>
              </a:spcBef>
            </a:pPr>
            <a:r>
              <a:rPr sz="2000" spc="-1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Ing.</a:t>
            </a:r>
            <a:r>
              <a:rPr sz="2000" spc="-8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6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Estefania</a:t>
            </a:r>
            <a:r>
              <a:rPr sz="2000" spc="-8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65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Heredia </a:t>
            </a:r>
            <a:r>
              <a:rPr sz="2000" spc="55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2000" spc="-85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95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spc="-6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125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Marzo</a:t>
            </a:r>
            <a:r>
              <a:rPr sz="2000" spc="-7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7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000" spc="-3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0" dirty="0">
                <a:solidFill>
                  <a:srgbClr val="4437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0" y="0"/>
            <a:ext cx="5486400" cy="7774305"/>
            <a:chOff x="9144000" y="0"/>
            <a:chExt cx="5486400" cy="7774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0" y="0"/>
              <a:ext cx="5486400" cy="77740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7463" y="630936"/>
              <a:ext cx="4919472" cy="696772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1570" y="2699258"/>
            <a:ext cx="2853055" cy="706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45" dirty="0"/>
              <a:t>Descripción: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1570" y="3737536"/>
            <a:ext cx="6164580" cy="150050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40"/>
              </a:spcBef>
              <a:buChar char="•"/>
              <a:tabLst>
                <a:tab pos="355600" algn="l"/>
              </a:tabLst>
            </a:pP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Juego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del</a:t>
            </a:r>
            <a:r>
              <a:rPr sz="1700" spc="-9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ahorcado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0" dirty="0">
                <a:solidFill>
                  <a:srgbClr val="443728"/>
                </a:solidFill>
                <a:latin typeface="Tahoma"/>
                <a:cs typeface="Tahoma"/>
              </a:rPr>
              <a:t>desarrollado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en</a:t>
            </a:r>
            <a:r>
              <a:rPr sz="1700" spc="1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35" dirty="0">
                <a:solidFill>
                  <a:srgbClr val="443728"/>
                </a:solidFill>
                <a:latin typeface="Tahoma"/>
                <a:cs typeface="Tahoma"/>
              </a:rPr>
              <a:t>Spyder.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4"/>
              </a:spcBef>
              <a:buChar char="•"/>
              <a:tabLst>
                <a:tab pos="355600" algn="l"/>
              </a:tabLst>
            </a:pP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Respuestas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0" dirty="0">
                <a:solidFill>
                  <a:srgbClr val="443728"/>
                </a:solidFill>
                <a:latin typeface="Tahoma"/>
                <a:cs typeface="Tahoma"/>
              </a:rPr>
              <a:t>basadas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palabras</a:t>
            </a:r>
            <a:r>
              <a:rPr sz="1700" spc="-12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tecnología</a:t>
            </a:r>
            <a:r>
              <a:rPr sz="1700" spc="-4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y</a:t>
            </a:r>
            <a:r>
              <a:rPr sz="1700" spc="-1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sociedad.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15"/>
              </a:spcBef>
              <a:buChar char="•"/>
              <a:tabLst>
                <a:tab pos="355600" algn="l"/>
              </a:tabLst>
            </a:pP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Sistema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100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intentos,</a:t>
            </a:r>
            <a:r>
              <a:rPr sz="1700" spc="-8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errores</a:t>
            </a:r>
            <a:r>
              <a:rPr sz="1700" spc="-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y</a:t>
            </a:r>
            <a:r>
              <a:rPr sz="1700" spc="-10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5" dirty="0">
                <a:solidFill>
                  <a:srgbClr val="443728"/>
                </a:solidFill>
                <a:latin typeface="Tahoma"/>
                <a:cs typeface="Tahoma"/>
              </a:rPr>
              <a:t>seguimiento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100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progreso.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5"/>
              </a:spcBef>
              <a:buChar char="•"/>
              <a:tabLst>
                <a:tab pos="355600" algn="l"/>
              </a:tabLst>
            </a:pPr>
            <a:r>
              <a:rPr sz="1700" spc="45" dirty="0">
                <a:solidFill>
                  <a:srgbClr val="443728"/>
                </a:solidFill>
                <a:latin typeface="Tahoma"/>
                <a:cs typeface="Tahoma"/>
              </a:rPr>
              <a:t>Interfaz</a:t>
            </a:r>
            <a:r>
              <a:rPr sz="1700" spc="-10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y</a:t>
            </a:r>
            <a:r>
              <a:rPr sz="1700" spc="-1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codificación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simple.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070" y="546988"/>
            <a:ext cx="1859280" cy="629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50" spc="-175" dirty="0"/>
              <a:t>Objetivo: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8255" y="1691639"/>
            <a:ext cx="5742432" cy="57424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618471" y="2714434"/>
            <a:ext cx="4312920" cy="3602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b="1" spc="-80" dirty="0">
                <a:solidFill>
                  <a:srgbClr val="443728"/>
                </a:solidFill>
                <a:latin typeface="Times New Roman"/>
                <a:cs typeface="Times New Roman"/>
              </a:rPr>
              <a:t>Objetivo</a:t>
            </a:r>
            <a:r>
              <a:rPr sz="1950" b="1" spc="-10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1950" b="1" spc="-10" dirty="0">
                <a:solidFill>
                  <a:srgbClr val="443728"/>
                </a:solidFill>
                <a:latin typeface="Times New Roman"/>
                <a:cs typeface="Times New Roman"/>
              </a:rPr>
              <a:t>Principal</a:t>
            </a:r>
            <a:endParaRPr sz="1950">
              <a:latin typeface="Times New Roman"/>
              <a:cs typeface="Times New Roman"/>
            </a:endParaRPr>
          </a:p>
          <a:p>
            <a:pPr marL="12700" marR="340995">
              <a:lnSpc>
                <a:spcPct val="127800"/>
              </a:lnSpc>
              <a:spcBef>
                <a:spcPts val="1350"/>
              </a:spcBef>
            </a:pPr>
            <a:r>
              <a:rPr sz="1550" spc="50" dirty="0">
                <a:solidFill>
                  <a:srgbClr val="443728"/>
                </a:solidFill>
                <a:latin typeface="Tahoma"/>
                <a:cs typeface="Tahoma"/>
              </a:rPr>
              <a:t>Crear</a:t>
            </a:r>
            <a:r>
              <a:rPr sz="1550" spc="-1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80" dirty="0">
                <a:solidFill>
                  <a:srgbClr val="443728"/>
                </a:solidFill>
                <a:latin typeface="Tahoma"/>
                <a:cs typeface="Tahoma"/>
              </a:rPr>
              <a:t>un</a:t>
            </a:r>
            <a:r>
              <a:rPr sz="1550" spc="-13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443728"/>
                </a:solidFill>
                <a:latin typeface="Tahoma"/>
                <a:cs typeface="Tahoma"/>
              </a:rPr>
              <a:t>juego</a:t>
            </a:r>
            <a:r>
              <a:rPr sz="1550" spc="-3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60" dirty="0">
                <a:solidFill>
                  <a:srgbClr val="443728"/>
                </a:solidFill>
                <a:latin typeface="Tahoma"/>
                <a:cs typeface="Tahoma"/>
              </a:rPr>
              <a:t>basado</a:t>
            </a:r>
            <a:r>
              <a:rPr sz="1550" spc="-3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70" dirty="0">
                <a:solidFill>
                  <a:srgbClr val="443728"/>
                </a:solidFill>
                <a:latin typeface="Tahoma"/>
                <a:cs typeface="Tahoma"/>
              </a:rPr>
              <a:t>en</a:t>
            </a:r>
            <a:r>
              <a:rPr sz="155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50" dirty="0">
                <a:solidFill>
                  <a:srgbClr val="443728"/>
                </a:solidFill>
                <a:latin typeface="Tahoma"/>
                <a:cs typeface="Tahoma"/>
              </a:rPr>
              <a:t>los</a:t>
            </a:r>
            <a:r>
              <a:rPr sz="155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60" dirty="0">
                <a:solidFill>
                  <a:srgbClr val="443728"/>
                </a:solidFill>
                <a:latin typeface="Tahoma"/>
                <a:cs typeface="Tahoma"/>
              </a:rPr>
              <a:t>conceptos</a:t>
            </a:r>
            <a:r>
              <a:rPr sz="1550" spc="-13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80" dirty="0">
                <a:solidFill>
                  <a:srgbClr val="443728"/>
                </a:solidFill>
                <a:latin typeface="Tahoma"/>
                <a:cs typeface="Tahoma"/>
              </a:rPr>
              <a:t>de </a:t>
            </a:r>
            <a:r>
              <a:rPr sz="1550" spc="55" dirty="0">
                <a:solidFill>
                  <a:srgbClr val="443728"/>
                </a:solidFill>
                <a:latin typeface="Tahoma"/>
                <a:cs typeface="Tahoma"/>
              </a:rPr>
              <a:t>programación</a:t>
            </a:r>
            <a:r>
              <a:rPr sz="1550" spc="-8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-10" dirty="0">
                <a:solidFill>
                  <a:srgbClr val="443728"/>
                </a:solidFill>
                <a:latin typeface="Tahoma"/>
                <a:cs typeface="Tahoma"/>
              </a:rPr>
              <a:t>estructurada.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1950" b="1" spc="-75" dirty="0">
                <a:solidFill>
                  <a:srgbClr val="443728"/>
                </a:solidFill>
                <a:latin typeface="Times New Roman"/>
                <a:cs typeface="Times New Roman"/>
              </a:rPr>
              <a:t>Objetivos</a:t>
            </a:r>
            <a:r>
              <a:rPr sz="1950" b="1" spc="-4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1950" b="1" spc="-10" dirty="0">
                <a:solidFill>
                  <a:srgbClr val="443728"/>
                </a:solidFill>
                <a:latin typeface="Times New Roman"/>
                <a:cs typeface="Times New Roman"/>
              </a:rPr>
              <a:t>Específicos</a:t>
            </a:r>
            <a:endParaRPr sz="195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27899"/>
              </a:lnSpc>
              <a:spcBef>
                <a:spcPts val="1345"/>
              </a:spcBef>
              <a:buChar char="•"/>
              <a:tabLst>
                <a:tab pos="355600" algn="l"/>
              </a:tabLst>
            </a:pPr>
            <a:r>
              <a:rPr sz="1550" dirty="0">
                <a:solidFill>
                  <a:srgbClr val="443728"/>
                </a:solidFill>
                <a:latin typeface="Tahoma"/>
                <a:cs typeface="Tahoma"/>
              </a:rPr>
              <a:t>Integrar</a:t>
            </a:r>
            <a:r>
              <a:rPr sz="1550" spc="7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443728"/>
                </a:solidFill>
                <a:latin typeface="Tahoma"/>
                <a:cs typeface="Tahoma"/>
              </a:rPr>
              <a:t>las</a:t>
            </a:r>
            <a:r>
              <a:rPr sz="1550" spc="3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443728"/>
                </a:solidFill>
                <a:latin typeface="Tahoma"/>
                <a:cs typeface="Tahoma"/>
              </a:rPr>
              <a:t>cuatro</a:t>
            </a:r>
            <a:r>
              <a:rPr sz="1550" spc="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60" dirty="0">
                <a:solidFill>
                  <a:srgbClr val="443728"/>
                </a:solidFill>
                <a:latin typeface="Tahoma"/>
                <a:cs typeface="Tahoma"/>
              </a:rPr>
              <a:t>unidades</a:t>
            </a:r>
            <a:r>
              <a:rPr sz="1550" spc="3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60" dirty="0">
                <a:solidFill>
                  <a:srgbClr val="443728"/>
                </a:solidFill>
                <a:latin typeface="Tahoma"/>
                <a:cs typeface="Tahoma"/>
              </a:rPr>
              <a:t>aprendidas</a:t>
            </a:r>
            <a:r>
              <a:rPr sz="1550" spc="-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85" dirty="0">
                <a:solidFill>
                  <a:srgbClr val="443728"/>
                </a:solidFill>
                <a:latin typeface="Tahoma"/>
                <a:cs typeface="Tahoma"/>
              </a:rPr>
              <a:t>en </a:t>
            </a:r>
            <a:r>
              <a:rPr sz="1550" dirty="0">
                <a:solidFill>
                  <a:srgbClr val="443728"/>
                </a:solidFill>
                <a:latin typeface="Tahoma"/>
                <a:cs typeface="Tahoma"/>
              </a:rPr>
              <a:t>el</a:t>
            </a:r>
            <a:r>
              <a:rPr sz="1550" spc="-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-10" dirty="0">
                <a:solidFill>
                  <a:srgbClr val="443728"/>
                </a:solidFill>
                <a:latin typeface="Tahoma"/>
                <a:cs typeface="Tahoma"/>
              </a:rPr>
              <a:t>semestre.</a:t>
            </a:r>
            <a:endParaRPr sz="155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90"/>
              </a:spcBef>
              <a:buChar char="•"/>
              <a:tabLst>
                <a:tab pos="355600" algn="l"/>
              </a:tabLst>
            </a:pPr>
            <a:r>
              <a:rPr sz="1550" spc="10" dirty="0">
                <a:solidFill>
                  <a:srgbClr val="443728"/>
                </a:solidFill>
                <a:latin typeface="Tahoma"/>
                <a:cs typeface="Tahoma"/>
              </a:rPr>
              <a:t>Practicar</a:t>
            </a:r>
            <a:r>
              <a:rPr sz="1550" spc="-6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50" dirty="0">
                <a:solidFill>
                  <a:srgbClr val="443728"/>
                </a:solidFill>
                <a:latin typeface="Tahoma"/>
                <a:cs typeface="Tahoma"/>
              </a:rPr>
              <a:t>estructuras</a:t>
            </a:r>
            <a:r>
              <a:rPr sz="1550" spc="-2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70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550" spc="-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50" dirty="0">
                <a:solidFill>
                  <a:srgbClr val="443728"/>
                </a:solidFill>
                <a:latin typeface="Tahoma"/>
                <a:cs typeface="Tahoma"/>
              </a:rPr>
              <a:t>datos</a:t>
            </a:r>
            <a:r>
              <a:rPr sz="1550" spc="-2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10" dirty="0">
                <a:solidFill>
                  <a:srgbClr val="443728"/>
                </a:solidFill>
                <a:latin typeface="Tahoma"/>
                <a:cs typeface="Tahoma"/>
              </a:rPr>
              <a:t>y</a:t>
            </a:r>
            <a:r>
              <a:rPr sz="1550" spc="1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-10" dirty="0">
                <a:solidFill>
                  <a:srgbClr val="443728"/>
                </a:solidFill>
                <a:latin typeface="Tahoma"/>
                <a:cs typeface="Tahoma"/>
              </a:rPr>
              <a:t>control.</a:t>
            </a:r>
            <a:endParaRPr sz="155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Char char="•"/>
              <a:tabLst>
                <a:tab pos="355600" algn="l"/>
              </a:tabLst>
            </a:pPr>
            <a:r>
              <a:rPr sz="1550" spc="50" dirty="0">
                <a:solidFill>
                  <a:srgbClr val="443728"/>
                </a:solidFill>
                <a:latin typeface="Tahoma"/>
                <a:cs typeface="Tahoma"/>
              </a:rPr>
              <a:t>Desarrollar</a:t>
            </a:r>
            <a:r>
              <a:rPr sz="1550" spc="-4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dirty="0">
                <a:solidFill>
                  <a:srgbClr val="443728"/>
                </a:solidFill>
                <a:latin typeface="Tahoma"/>
                <a:cs typeface="Tahoma"/>
              </a:rPr>
              <a:t>lógica</a:t>
            </a:r>
            <a:r>
              <a:rPr sz="1550" spc="2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70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550" spc="1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-10" dirty="0">
                <a:solidFill>
                  <a:srgbClr val="443728"/>
                </a:solidFill>
                <a:latin typeface="Tahoma"/>
                <a:cs typeface="Tahoma"/>
              </a:rPr>
              <a:t>programación.</a:t>
            </a:r>
            <a:endParaRPr sz="155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Char char="•"/>
              <a:tabLst>
                <a:tab pos="355600" algn="l"/>
              </a:tabLst>
            </a:pPr>
            <a:r>
              <a:rPr sz="1550" spc="50" dirty="0">
                <a:solidFill>
                  <a:srgbClr val="443728"/>
                </a:solidFill>
                <a:latin typeface="Tahoma"/>
                <a:cs typeface="Tahoma"/>
              </a:rPr>
              <a:t>Crear</a:t>
            </a:r>
            <a:r>
              <a:rPr sz="155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60" dirty="0">
                <a:solidFill>
                  <a:srgbClr val="443728"/>
                </a:solidFill>
                <a:latin typeface="Tahoma"/>
                <a:cs typeface="Tahoma"/>
              </a:rPr>
              <a:t>una</a:t>
            </a:r>
            <a:r>
              <a:rPr sz="1550" spc="-13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50" dirty="0">
                <a:solidFill>
                  <a:srgbClr val="443728"/>
                </a:solidFill>
                <a:latin typeface="Tahoma"/>
                <a:cs typeface="Tahoma"/>
              </a:rPr>
              <a:t>experiencia</a:t>
            </a:r>
            <a:r>
              <a:rPr sz="1550" spc="-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70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550" spc="-1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550" spc="55" dirty="0">
                <a:solidFill>
                  <a:srgbClr val="443728"/>
                </a:solidFill>
                <a:latin typeface="Tahoma"/>
                <a:cs typeface="Tahoma"/>
              </a:rPr>
              <a:t>usuario</a:t>
            </a:r>
            <a:endParaRPr sz="155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590"/>
              </a:spcBef>
            </a:pPr>
            <a:r>
              <a:rPr sz="1550" spc="-10" dirty="0">
                <a:solidFill>
                  <a:srgbClr val="443728"/>
                </a:solidFill>
                <a:latin typeface="Tahoma"/>
                <a:cs typeface="Tahoma"/>
              </a:rPr>
              <a:t>funcional.</a:t>
            </a:r>
            <a:endParaRPr sz="1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3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10" dirty="0"/>
              <a:t>Funcionamiento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570" y="2530284"/>
            <a:ext cx="24511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-25" dirty="0">
                <a:solidFill>
                  <a:srgbClr val="443728"/>
                </a:solidFill>
                <a:latin typeface="Calibri"/>
                <a:cs typeface="Calibri"/>
              </a:rPr>
              <a:t>01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5527" y="2843783"/>
            <a:ext cx="4197350" cy="27940"/>
          </a:xfrm>
          <a:custGeom>
            <a:avLst/>
            <a:gdLst/>
            <a:ahLst/>
            <a:cxnLst/>
            <a:rect l="l" t="t" r="r" b="b"/>
            <a:pathLst>
              <a:path w="4197350" h="27939">
                <a:moveTo>
                  <a:pt x="4197096" y="0"/>
                </a:moveTo>
                <a:lnTo>
                  <a:pt x="0" y="0"/>
                </a:lnTo>
                <a:lnTo>
                  <a:pt x="0" y="27432"/>
                </a:lnTo>
                <a:lnTo>
                  <a:pt x="4197096" y="27432"/>
                </a:lnTo>
                <a:lnTo>
                  <a:pt x="4197096" y="0"/>
                </a:lnTo>
                <a:close/>
              </a:path>
            </a:pathLst>
          </a:custGeom>
          <a:solidFill>
            <a:srgbClr val="835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1570" y="2987103"/>
            <a:ext cx="3298825" cy="1219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10" dirty="0">
                <a:solidFill>
                  <a:srgbClr val="443728"/>
                </a:solidFill>
                <a:latin typeface="Times New Roman"/>
                <a:cs typeface="Times New Roman"/>
              </a:rPr>
              <a:t>Inicio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41300"/>
              </a:lnSpc>
              <a:spcBef>
                <a:spcPts val="955"/>
              </a:spcBef>
            </a:pP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Cargar</a:t>
            </a:r>
            <a:r>
              <a:rPr sz="1700" spc="1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palabras</a:t>
            </a:r>
            <a:r>
              <a:rPr sz="1700" spc="-11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y</a:t>
            </a:r>
            <a:r>
              <a:rPr sz="1700" spc="-1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configurar</a:t>
            </a:r>
            <a:r>
              <a:rPr sz="1700" spc="-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40" dirty="0">
                <a:solidFill>
                  <a:srgbClr val="443728"/>
                </a:solidFill>
                <a:latin typeface="Tahoma"/>
                <a:cs typeface="Tahoma"/>
              </a:rPr>
              <a:t>las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variables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del</a:t>
            </a:r>
            <a:r>
              <a:rPr sz="1700" spc="-10" dirty="0">
                <a:solidFill>
                  <a:srgbClr val="443728"/>
                </a:solidFill>
                <a:latin typeface="Tahoma"/>
                <a:cs typeface="Tahoma"/>
              </a:rPr>
              <a:t> juego.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07634" y="2530284"/>
            <a:ext cx="24511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-25" dirty="0">
                <a:solidFill>
                  <a:srgbClr val="443728"/>
                </a:solidFill>
                <a:latin typeface="Calibri"/>
                <a:cs typeface="Calibri"/>
              </a:rPr>
              <a:t>02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21223" y="2843783"/>
            <a:ext cx="4188460" cy="27940"/>
          </a:xfrm>
          <a:custGeom>
            <a:avLst/>
            <a:gdLst/>
            <a:ahLst/>
            <a:cxnLst/>
            <a:rect l="l" t="t" r="r" b="b"/>
            <a:pathLst>
              <a:path w="4188459" h="27939">
                <a:moveTo>
                  <a:pt x="4187952" y="0"/>
                </a:moveTo>
                <a:lnTo>
                  <a:pt x="0" y="0"/>
                </a:lnTo>
                <a:lnTo>
                  <a:pt x="0" y="27432"/>
                </a:lnTo>
                <a:lnTo>
                  <a:pt x="4187952" y="27432"/>
                </a:lnTo>
                <a:lnTo>
                  <a:pt x="4187952" y="0"/>
                </a:lnTo>
                <a:close/>
              </a:path>
            </a:pathLst>
          </a:custGeom>
          <a:solidFill>
            <a:srgbClr val="835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07634" y="2987103"/>
            <a:ext cx="3907790" cy="1219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60" dirty="0">
                <a:solidFill>
                  <a:srgbClr val="443728"/>
                </a:solidFill>
                <a:latin typeface="Times New Roman"/>
                <a:cs typeface="Times New Roman"/>
              </a:rPr>
              <a:t>Selección</a:t>
            </a:r>
            <a:r>
              <a:rPr sz="2200" b="1" spc="-145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200" b="1" spc="-45" dirty="0">
                <a:solidFill>
                  <a:srgbClr val="443728"/>
                </a:solidFill>
                <a:latin typeface="Times New Roman"/>
                <a:cs typeface="Times New Roman"/>
              </a:rPr>
              <a:t>de</a:t>
            </a:r>
            <a:r>
              <a:rPr sz="2200" b="1" spc="-65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443728"/>
                </a:solidFill>
                <a:latin typeface="Times New Roman"/>
                <a:cs typeface="Times New Roman"/>
              </a:rPr>
              <a:t>Palabra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41300"/>
              </a:lnSpc>
              <a:spcBef>
                <a:spcPts val="955"/>
              </a:spcBef>
            </a:pPr>
            <a:r>
              <a:rPr sz="1700" spc="50" dirty="0">
                <a:solidFill>
                  <a:srgbClr val="443728"/>
                </a:solidFill>
                <a:latin typeface="Tahoma"/>
                <a:cs typeface="Tahoma"/>
              </a:rPr>
              <a:t>Elegir</a:t>
            </a:r>
            <a:r>
              <a:rPr sz="1700" spc="-7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aleatoriamente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100" dirty="0">
                <a:solidFill>
                  <a:srgbClr val="443728"/>
                </a:solidFill>
                <a:latin typeface="Tahoma"/>
                <a:cs typeface="Tahoma"/>
              </a:rPr>
              <a:t>una</a:t>
            </a:r>
            <a:r>
              <a:rPr sz="1700" spc="-4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palabra</a:t>
            </a:r>
            <a:r>
              <a:rPr sz="1700" spc="-3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del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diccionario</a:t>
            </a:r>
            <a:r>
              <a:rPr sz="1700" spc="-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0" dirty="0">
                <a:solidFill>
                  <a:srgbClr val="443728"/>
                </a:solidFill>
                <a:latin typeface="Tahoma"/>
                <a:cs typeface="Tahoma"/>
              </a:rPr>
              <a:t>temático.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33584" y="2530284"/>
            <a:ext cx="24511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-25" dirty="0">
                <a:solidFill>
                  <a:srgbClr val="443728"/>
                </a:solidFill>
                <a:latin typeface="Calibri"/>
                <a:cs typeface="Calibri"/>
              </a:rPr>
              <a:t>03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637776" y="2843783"/>
            <a:ext cx="4197350" cy="27940"/>
          </a:xfrm>
          <a:custGeom>
            <a:avLst/>
            <a:gdLst/>
            <a:ahLst/>
            <a:cxnLst/>
            <a:rect l="l" t="t" r="r" b="b"/>
            <a:pathLst>
              <a:path w="4197350" h="27939">
                <a:moveTo>
                  <a:pt x="4197096" y="0"/>
                </a:moveTo>
                <a:lnTo>
                  <a:pt x="0" y="0"/>
                </a:lnTo>
                <a:lnTo>
                  <a:pt x="0" y="27432"/>
                </a:lnTo>
                <a:lnTo>
                  <a:pt x="4197096" y="27432"/>
                </a:lnTo>
                <a:lnTo>
                  <a:pt x="4197096" y="0"/>
                </a:lnTo>
                <a:close/>
              </a:path>
            </a:pathLst>
          </a:custGeom>
          <a:solidFill>
            <a:srgbClr val="835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633584" y="2987103"/>
            <a:ext cx="4118610" cy="15951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85" dirty="0">
                <a:solidFill>
                  <a:srgbClr val="443728"/>
                </a:solidFill>
                <a:latin typeface="Times New Roman"/>
                <a:cs typeface="Times New Roman"/>
              </a:rPr>
              <a:t>Bucle</a:t>
            </a:r>
            <a:r>
              <a:rPr sz="2200" b="1" spc="-17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443728"/>
                </a:solidFill>
                <a:latin typeface="Times New Roman"/>
                <a:cs typeface="Times New Roman"/>
              </a:rPr>
              <a:t>Principal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43100"/>
              </a:lnSpc>
              <a:spcBef>
                <a:spcPts val="915"/>
              </a:spcBef>
            </a:pP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Solicitar</a:t>
            </a:r>
            <a:r>
              <a:rPr sz="1700" spc="-6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y</a:t>
            </a:r>
            <a:r>
              <a:rPr sz="1700" spc="-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seleccionar</a:t>
            </a:r>
            <a:r>
              <a:rPr sz="1700" spc="1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letras</a:t>
            </a:r>
            <a:r>
              <a:rPr sz="1700" spc="-3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al </a:t>
            </a:r>
            <a:r>
              <a:rPr sz="1700" spc="85" dirty="0">
                <a:solidFill>
                  <a:srgbClr val="443728"/>
                </a:solidFill>
                <a:latin typeface="Tahoma"/>
                <a:cs typeface="Tahoma"/>
              </a:rPr>
              <a:t>usuario</a:t>
            </a:r>
            <a:r>
              <a:rPr sz="1700" spc="-4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y </a:t>
            </a:r>
            <a:r>
              <a:rPr sz="1700" spc="90" dirty="0">
                <a:solidFill>
                  <a:srgbClr val="443728"/>
                </a:solidFill>
                <a:latin typeface="Tahoma"/>
                <a:cs typeface="Tahoma"/>
              </a:rPr>
              <a:t>proceder</a:t>
            </a:r>
            <a:r>
              <a:rPr sz="1700" spc="-7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a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0" dirty="0">
                <a:solidFill>
                  <a:srgbClr val="443728"/>
                </a:solidFill>
                <a:latin typeface="Tahoma"/>
                <a:cs typeface="Tahoma"/>
              </a:rPr>
              <a:t>la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verificación</a:t>
            </a:r>
            <a:r>
              <a:rPr sz="1700" spc="-7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0" dirty="0">
                <a:solidFill>
                  <a:srgbClr val="443728"/>
                </a:solidFill>
                <a:latin typeface="Tahoma"/>
                <a:cs typeface="Tahoma"/>
              </a:rPr>
              <a:t>los </a:t>
            </a:r>
            <a:r>
              <a:rPr sz="1700" spc="45" dirty="0">
                <a:solidFill>
                  <a:srgbClr val="443728"/>
                </a:solidFill>
                <a:latin typeface="Tahoma"/>
                <a:cs typeface="Tahoma"/>
              </a:rPr>
              <a:t>aciertos.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1570" y="5038534"/>
            <a:ext cx="24511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-25" dirty="0">
                <a:solidFill>
                  <a:srgbClr val="443728"/>
                </a:solidFill>
                <a:latin typeface="Calibri"/>
                <a:cs typeface="Calibri"/>
              </a:rPr>
              <a:t>04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95527" y="5349240"/>
            <a:ext cx="6410325" cy="27940"/>
          </a:xfrm>
          <a:custGeom>
            <a:avLst/>
            <a:gdLst/>
            <a:ahLst/>
            <a:cxnLst/>
            <a:rect l="l" t="t" r="r" b="b"/>
            <a:pathLst>
              <a:path w="6410325" h="27939">
                <a:moveTo>
                  <a:pt x="6409944" y="0"/>
                </a:moveTo>
                <a:lnTo>
                  <a:pt x="0" y="0"/>
                </a:lnTo>
                <a:lnTo>
                  <a:pt x="0" y="27431"/>
                </a:lnTo>
                <a:lnTo>
                  <a:pt x="6409944" y="27431"/>
                </a:lnTo>
                <a:lnTo>
                  <a:pt x="6409944" y="0"/>
                </a:lnTo>
                <a:close/>
              </a:path>
            </a:pathLst>
          </a:custGeom>
          <a:solidFill>
            <a:srgbClr val="835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81570" y="5495099"/>
            <a:ext cx="6030595" cy="1219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10" dirty="0">
                <a:solidFill>
                  <a:srgbClr val="443728"/>
                </a:solidFill>
                <a:latin typeface="Times New Roman"/>
                <a:cs typeface="Times New Roman"/>
              </a:rPr>
              <a:t>Verificación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41400"/>
              </a:lnSpc>
              <a:spcBef>
                <a:spcPts val="950"/>
              </a:spcBef>
            </a:pPr>
            <a:r>
              <a:rPr sz="1700" spc="110" dirty="0">
                <a:solidFill>
                  <a:srgbClr val="443728"/>
                </a:solidFill>
                <a:latin typeface="Tahoma"/>
                <a:cs typeface="Tahoma"/>
              </a:rPr>
              <a:t>Comprueba</a:t>
            </a:r>
            <a:r>
              <a:rPr sz="1700" spc="-4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si</a:t>
            </a:r>
            <a:r>
              <a:rPr sz="1700" spc="-1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se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adivinó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0" dirty="0">
                <a:solidFill>
                  <a:srgbClr val="443728"/>
                </a:solidFill>
                <a:latin typeface="Tahoma"/>
                <a:cs typeface="Tahoma"/>
              </a:rPr>
              <a:t>la</a:t>
            </a:r>
            <a:r>
              <a:rPr sz="1700" spc="-4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palabra</a:t>
            </a:r>
            <a:r>
              <a:rPr sz="1700" spc="-4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110" dirty="0">
                <a:solidFill>
                  <a:srgbClr val="443728"/>
                </a:solidFill>
                <a:latin typeface="Tahoma"/>
                <a:cs typeface="Tahoma"/>
              </a:rPr>
              <a:t>o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si</a:t>
            </a:r>
            <a:r>
              <a:rPr sz="1700" spc="-8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gastaron</a:t>
            </a:r>
            <a:r>
              <a:rPr sz="1700" spc="-6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todos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0" dirty="0">
                <a:solidFill>
                  <a:srgbClr val="443728"/>
                </a:solidFill>
                <a:latin typeface="Tahoma"/>
                <a:cs typeface="Tahoma"/>
              </a:rPr>
              <a:t>los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intentos</a:t>
            </a:r>
            <a:r>
              <a:rPr sz="1700" spc="-4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otorgados.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20482" y="5038534"/>
            <a:ext cx="24574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-25" dirty="0">
                <a:solidFill>
                  <a:srgbClr val="443728"/>
                </a:solidFill>
                <a:latin typeface="Calibri"/>
                <a:cs typeface="Calibri"/>
              </a:rPr>
              <a:t>05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24928" y="5349240"/>
            <a:ext cx="6410325" cy="27940"/>
          </a:xfrm>
          <a:custGeom>
            <a:avLst/>
            <a:gdLst/>
            <a:ahLst/>
            <a:cxnLst/>
            <a:rect l="l" t="t" r="r" b="b"/>
            <a:pathLst>
              <a:path w="6410325" h="27939">
                <a:moveTo>
                  <a:pt x="6409944" y="0"/>
                </a:moveTo>
                <a:lnTo>
                  <a:pt x="0" y="0"/>
                </a:lnTo>
                <a:lnTo>
                  <a:pt x="0" y="27431"/>
                </a:lnTo>
                <a:lnTo>
                  <a:pt x="6409944" y="27431"/>
                </a:lnTo>
                <a:lnTo>
                  <a:pt x="6409944" y="0"/>
                </a:lnTo>
                <a:close/>
              </a:path>
            </a:pathLst>
          </a:custGeom>
          <a:solidFill>
            <a:srgbClr val="835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420482" y="5495099"/>
            <a:ext cx="5848350" cy="8534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125" dirty="0">
                <a:solidFill>
                  <a:srgbClr val="443728"/>
                </a:solidFill>
                <a:latin typeface="Times New Roman"/>
                <a:cs typeface="Times New Roman"/>
              </a:rPr>
              <a:t>Fin</a:t>
            </a:r>
            <a:r>
              <a:rPr sz="2200" b="1" spc="-16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200" b="1" spc="-30" dirty="0">
                <a:solidFill>
                  <a:srgbClr val="443728"/>
                </a:solidFill>
                <a:latin typeface="Times New Roman"/>
                <a:cs typeface="Times New Roman"/>
              </a:rPr>
              <a:t>del</a:t>
            </a:r>
            <a:r>
              <a:rPr sz="2200" b="1" spc="-114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443728"/>
                </a:solidFill>
                <a:latin typeface="Times New Roman"/>
                <a:cs typeface="Times New Roman"/>
              </a:rPr>
              <a:t>Juego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1700" spc="105" dirty="0">
                <a:solidFill>
                  <a:srgbClr val="443728"/>
                </a:solidFill>
                <a:latin typeface="Tahoma"/>
                <a:cs typeface="Tahoma"/>
              </a:rPr>
              <a:t>Mostrar</a:t>
            </a:r>
            <a:r>
              <a:rPr sz="1700" spc="-7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el</a:t>
            </a:r>
            <a:r>
              <a:rPr sz="1700" spc="-9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5" dirty="0">
                <a:solidFill>
                  <a:srgbClr val="443728"/>
                </a:solidFill>
                <a:latin typeface="Tahoma"/>
                <a:cs typeface="Tahoma"/>
              </a:rPr>
              <a:t>resultado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y</a:t>
            </a:r>
            <a:r>
              <a:rPr sz="1700" spc="-9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ofrecer</a:t>
            </a:r>
            <a:r>
              <a:rPr sz="1700" spc="-7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jugar</a:t>
            </a:r>
            <a:r>
              <a:rPr sz="1700" spc="-7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100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nuevo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al</a:t>
            </a:r>
            <a:r>
              <a:rPr sz="1700" spc="-9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usuario.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570" y="1815719"/>
            <a:ext cx="4735830" cy="706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90" dirty="0"/>
              <a:t>Estructuras</a:t>
            </a:r>
            <a:r>
              <a:rPr spc="-225" dirty="0"/>
              <a:t> </a:t>
            </a:r>
            <a:r>
              <a:rPr spc="-70" dirty="0"/>
              <a:t>de</a:t>
            </a:r>
            <a:r>
              <a:rPr spc="-290" dirty="0"/>
              <a:t> </a:t>
            </a:r>
            <a:r>
              <a:rPr spc="-45" dirty="0"/>
              <a:t>Datos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58951" y="3015995"/>
            <a:ext cx="4253865" cy="3368040"/>
            <a:chOff x="758951" y="3015995"/>
            <a:chExt cx="4253865" cy="3368040"/>
          </a:xfrm>
        </p:grpSpPr>
        <p:sp>
          <p:nvSpPr>
            <p:cNvPr id="4" name="object 4"/>
            <p:cNvSpPr/>
            <p:nvPr/>
          </p:nvSpPr>
          <p:spPr>
            <a:xfrm>
              <a:off x="800099" y="3031235"/>
              <a:ext cx="4197350" cy="3337560"/>
            </a:xfrm>
            <a:custGeom>
              <a:avLst/>
              <a:gdLst/>
              <a:ahLst/>
              <a:cxnLst/>
              <a:rect l="l" t="t" r="r" b="b"/>
              <a:pathLst>
                <a:path w="4197350" h="3337560">
                  <a:moveTo>
                    <a:pt x="4050919" y="0"/>
                  </a:moveTo>
                  <a:lnTo>
                    <a:pt x="146151" y="0"/>
                  </a:lnTo>
                  <a:lnTo>
                    <a:pt x="99954" y="7448"/>
                  </a:lnTo>
                  <a:lnTo>
                    <a:pt x="59834" y="28191"/>
                  </a:lnTo>
                  <a:lnTo>
                    <a:pt x="28197" y="59829"/>
                  </a:lnTo>
                  <a:lnTo>
                    <a:pt x="7450" y="99958"/>
                  </a:lnTo>
                  <a:lnTo>
                    <a:pt x="0" y="146176"/>
                  </a:lnTo>
                  <a:lnTo>
                    <a:pt x="0" y="3191383"/>
                  </a:lnTo>
                  <a:lnTo>
                    <a:pt x="7450" y="3237601"/>
                  </a:lnTo>
                  <a:lnTo>
                    <a:pt x="28197" y="3277730"/>
                  </a:lnTo>
                  <a:lnTo>
                    <a:pt x="59834" y="3309368"/>
                  </a:lnTo>
                  <a:lnTo>
                    <a:pt x="99954" y="3330111"/>
                  </a:lnTo>
                  <a:lnTo>
                    <a:pt x="146151" y="3337559"/>
                  </a:lnTo>
                  <a:lnTo>
                    <a:pt x="4050919" y="3337559"/>
                  </a:lnTo>
                  <a:lnTo>
                    <a:pt x="4097137" y="3330111"/>
                  </a:lnTo>
                  <a:lnTo>
                    <a:pt x="4137266" y="3309368"/>
                  </a:lnTo>
                  <a:lnTo>
                    <a:pt x="4168904" y="3277730"/>
                  </a:lnTo>
                  <a:lnTo>
                    <a:pt x="4189647" y="3237601"/>
                  </a:lnTo>
                  <a:lnTo>
                    <a:pt x="4197096" y="3191383"/>
                  </a:lnTo>
                  <a:lnTo>
                    <a:pt x="4197096" y="146176"/>
                  </a:lnTo>
                  <a:lnTo>
                    <a:pt x="4189647" y="99958"/>
                  </a:lnTo>
                  <a:lnTo>
                    <a:pt x="4168904" y="59829"/>
                  </a:lnTo>
                  <a:lnTo>
                    <a:pt x="4137266" y="28191"/>
                  </a:lnTo>
                  <a:lnTo>
                    <a:pt x="4097137" y="7448"/>
                  </a:lnTo>
                  <a:lnTo>
                    <a:pt x="4050919" y="0"/>
                  </a:lnTo>
                  <a:close/>
                </a:path>
              </a:pathLst>
            </a:custGeom>
            <a:solidFill>
              <a:srgbClr val="FFFB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0099" y="3031235"/>
              <a:ext cx="4197350" cy="3337560"/>
            </a:xfrm>
            <a:custGeom>
              <a:avLst/>
              <a:gdLst/>
              <a:ahLst/>
              <a:cxnLst/>
              <a:rect l="l" t="t" r="r" b="b"/>
              <a:pathLst>
                <a:path w="4197350" h="3337560">
                  <a:moveTo>
                    <a:pt x="0" y="146176"/>
                  </a:moveTo>
                  <a:lnTo>
                    <a:pt x="7450" y="99958"/>
                  </a:lnTo>
                  <a:lnTo>
                    <a:pt x="28197" y="59829"/>
                  </a:lnTo>
                  <a:lnTo>
                    <a:pt x="59834" y="28191"/>
                  </a:lnTo>
                  <a:lnTo>
                    <a:pt x="99954" y="7448"/>
                  </a:lnTo>
                  <a:lnTo>
                    <a:pt x="146151" y="0"/>
                  </a:lnTo>
                  <a:lnTo>
                    <a:pt x="4050919" y="0"/>
                  </a:lnTo>
                  <a:lnTo>
                    <a:pt x="4097137" y="7448"/>
                  </a:lnTo>
                  <a:lnTo>
                    <a:pt x="4137266" y="28191"/>
                  </a:lnTo>
                  <a:lnTo>
                    <a:pt x="4168904" y="59829"/>
                  </a:lnTo>
                  <a:lnTo>
                    <a:pt x="4189647" y="99958"/>
                  </a:lnTo>
                  <a:lnTo>
                    <a:pt x="4197096" y="146176"/>
                  </a:lnTo>
                  <a:lnTo>
                    <a:pt x="4197096" y="3191383"/>
                  </a:lnTo>
                  <a:lnTo>
                    <a:pt x="4189647" y="3237601"/>
                  </a:lnTo>
                  <a:lnTo>
                    <a:pt x="4168904" y="3277730"/>
                  </a:lnTo>
                  <a:lnTo>
                    <a:pt x="4137266" y="3309368"/>
                  </a:lnTo>
                  <a:lnTo>
                    <a:pt x="4097137" y="3330111"/>
                  </a:lnTo>
                  <a:lnTo>
                    <a:pt x="4050919" y="3337559"/>
                  </a:lnTo>
                  <a:lnTo>
                    <a:pt x="146151" y="3337559"/>
                  </a:lnTo>
                  <a:lnTo>
                    <a:pt x="99954" y="3330111"/>
                  </a:lnTo>
                  <a:lnTo>
                    <a:pt x="59834" y="3309368"/>
                  </a:lnTo>
                  <a:lnTo>
                    <a:pt x="28197" y="3277730"/>
                  </a:lnTo>
                  <a:lnTo>
                    <a:pt x="7450" y="3237601"/>
                  </a:lnTo>
                  <a:lnTo>
                    <a:pt x="0" y="3191383"/>
                  </a:lnTo>
                  <a:lnTo>
                    <a:pt x="0" y="146176"/>
                  </a:lnTo>
                  <a:close/>
                </a:path>
              </a:pathLst>
            </a:custGeom>
            <a:ln w="30480">
              <a:solidFill>
                <a:srgbClr val="D1C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8951" y="3026663"/>
              <a:ext cx="128270" cy="3337560"/>
            </a:xfrm>
            <a:custGeom>
              <a:avLst/>
              <a:gdLst/>
              <a:ahLst/>
              <a:cxnLst/>
              <a:rect l="l" t="t" r="r" b="b"/>
              <a:pathLst>
                <a:path w="128269" h="3337560">
                  <a:moveTo>
                    <a:pt x="64007" y="0"/>
                  </a:moveTo>
                  <a:lnTo>
                    <a:pt x="39090" y="5036"/>
                  </a:lnTo>
                  <a:lnTo>
                    <a:pt x="18745" y="18764"/>
                  </a:lnTo>
                  <a:lnTo>
                    <a:pt x="5029" y="39112"/>
                  </a:lnTo>
                  <a:lnTo>
                    <a:pt x="0" y="64008"/>
                  </a:lnTo>
                  <a:lnTo>
                    <a:pt x="0" y="3273552"/>
                  </a:lnTo>
                  <a:lnTo>
                    <a:pt x="5029" y="3298447"/>
                  </a:lnTo>
                  <a:lnTo>
                    <a:pt x="18745" y="3318795"/>
                  </a:lnTo>
                  <a:lnTo>
                    <a:pt x="39090" y="3332523"/>
                  </a:lnTo>
                  <a:lnTo>
                    <a:pt x="64007" y="3337560"/>
                  </a:lnTo>
                  <a:lnTo>
                    <a:pt x="88925" y="3332523"/>
                  </a:lnTo>
                  <a:lnTo>
                    <a:pt x="109270" y="3318795"/>
                  </a:lnTo>
                  <a:lnTo>
                    <a:pt x="122986" y="3298447"/>
                  </a:lnTo>
                  <a:lnTo>
                    <a:pt x="128016" y="3273552"/>
                  </a:lnTo>
                  <a:lnTo>
                    <a:pt x="128016" y="64008"/>
                  </a:lnTo>
                  <a:lnTo>
                    <a:pt x="122986" y="39112"/>
                  </a:lnTo>
                  <a:lnTo>
                    <a:pt x="109270" y="18764"/>
                  </a:lnTo>
                  <a:lnTo>
                    <a:pt x="88925" y="5036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835E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30617" y="3255454"/>
            <a:ext cx="68516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70" dirty="0">
                <a:solidFill>
                  <a:srgbClr val="443728"/>
                </a:solidFill>
                <a:latin typeface="Times New Roman"/>
                <a:cs typeface="Times New Roman"/>
              </a:rPr>
              <a:t>Listas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617" y="3717302"/>
            <a:ext cx="3368675" cy="149923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5"/>
              </a:spcBef>
              <a:buChar char="•"/>
              <a:tabLst>
                <a:tab pos="355600" algn="l"/>
              </a:tabLst>
            </a:pP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Almacenar</a:t>
            </a:r>
            <a:r>
              <a:rPr sz="1700" spc="-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letras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adivinadas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sz="1700" spc="50" dirty="0">
                <a:solidFill>
                  <a:srgbClr val="443728"/>
                </a:solidFill>
                <a:latin typeface="Tahoma"/>
                <a:cs typeface="Tahoma"/>
              </a:rPr>
              <a:t>Registrar</a:t>
            </a:r>
            <a:r>
              <a:rPr sz="1700" spc="1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intentos</a:t>
            </a:r>
            <a:r>
              <a:rPr sz="1700" spc="-3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fallidos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15"/>
              </a:spcBef>
              <a:buChar char="•"/>
              <a:tabLst>
                <a:tab pos="355600" algn="l"/>
              </a:tabLst>
            </a:pP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Crear</a:t>
            </a:r>
            <a:r>
              <a:rPr sz="1700" spc="-8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0" dirty="0">
                <a:solidFill>
                  <a:srgbClr val="443728"/>
                </a:solidFill>
                <a:latin typeface="Tahoma"/>
                <a:cs typeface="Tahoma"/>
              </a:rPr>
              <a:t>lista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letras</a:t>
            </a:r>
            <a:r>
              <a:rPr sz="1700" spc="-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correctas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4"/>
              </a:spcBef>
              <a:buChar char="•"/>
              <a:tabLst>
                <a:tab pos="355600" algn="l"/>
              </a:tabLst>
            </a:pP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Manejar</a:t>
            </a:r>
            <a:r>
              <a:rPr sz="1700" spc="-9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estado</a:t>
            </a:r>
            <a:r>
              <a:rPr sz="1700" spc="-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0" dirty="0">
                <a:solidFill>
                  <a:srgbClr val="443728"/>
                </a:solidFill>
                <a:latin typeface="Tahoma"/>
                <a:cs typeface="Tahoma"/>
              </a:rPr>
              <a:t>del</a:t>
            </a:r>
            <a:r>
              <a:rPr sz="1700" spc="-10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tablero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84647" y="3015995"/>
            <a:ext cx="4244340" cy="3368040"/>
            <a:chOff x="5184647" y="3015995"/>
            <a:chExt cx="4244340" cy="3368040"/>
          </a:xfrm>
        </p:grpSpPr>
        <p:sp>
          <p:nvSpPr>
            <p:cNvPr id="10" name="object 10"/>
            <p:cNvSpPr/>
            <p:nvPr/>
          </p:nvSpPr>
          <p:spPr>
            <a:xfrm>
              <a:off x="5225795" y="3031235"/>
              <a:ext cx="4188460" cy="3337560"/>
            </a:xfrm>
            <a:custGeom>
              <a:avLst/>
              <a:gdLst/>
              <a:ahLst/>
              <a:cxnLst/>
              <a:rect l="l" t="t" r="r" b="b"/>
              <a:pathLst>
                <a:path w="4188459" h="3337560">
                  <a:moveTo>
                    <a:pt x="4041775" y="0"/>
                  </a:moveTo>
                  <a:lnTo>
                    <a:pt x="146176" y="0"/>
                  </a:lnTo>
                  <a:lnTo>
                    <a:pt x="99958" y="7448"/>
                  </a:lnTo>
                  <a:lnTo>
                    <a:pt x="59829" y="28191"/>
                  </a:lnTo>
                  <a:lnTo>
                    <a:pt x="28191" y="59829"/>
                  </a:lnTo>
                  <a:lnTo>
                    <a:pt x="7448" y="99958"/>
                  </a:lnTo>
                  <a:lnTo>
                    <a:pt x="0" y="146176"/>
                  </a:lnTo>
                  <a:lnTo>
                    <a:pt x="0" y="3191383"/>
                  </a:lnTo>
                  <a:lnTo>
                    <a:pt x="7448" y="3237601"/>
                  </a:lnTo>
                  <a:lnTo>
                    <a:pt x="28191" y="3277730"/>
                  </a:lnTo>
                  <a:lnTo>
                    <a:pt x="59829" y="3309368"/>
                  </a:lnTo>
                  <a:lnTo>
                    <a:pt x="99958" y="3330111"/>
                  </a:lnTo>
                  <a:lnTo>
                    <a:pt x="146176" y="3337559"/>
                  </a:lnTo>
                  <a:lnTo>
                    <a:pt x="4041775" y="3337559"/>
                  </a:lnTo>
                  <a:lnTo>
                    <a:pt x="4087993" y="3330111"/>
                  </a:lnTo>
                  <a:lnTo>
                    <a:pt x="4128122" y="3309368"/>
                  </a:lnTo>
                  <a:lnTo>
                    <a:pt x="4159760" y="3277730"/>
                  </a:lnTo>
                  <a:lnTo>
                    <a:pt x="4180503" y="3237601"/>
                  </a:lnTo>
                  <a:lnTo>
                    <a:pt x="4187952" y="3191383"/>
                  </a:lnTo>
                  <a:lnTo>
                    <a:pt x="4187952" y="146176"/>
                  </a:lnTo>
                  <a:lnTo>
                    <a:pt x="4180503" y="99958"/>
                  </a:lnTo>
                  <a:lnTo>
                    <a:pt x="4159760" y="59829"/>
                  </a:lnTo>
                  <a:lnTo>
                    <a:pt x="4128122" y="28191"/>
                  </a:lnTo>
                  <a:lnTo>
                    <a:pt x="4087993" y="7448"/>
                  </a:lnTo>
                  <a:lnTo>
                    <a:pt x="4041775" y="0"/>
                  </a:lnTo>
                  <a:close/>
                </a:path>
              </a:pathLst>
            </a:custGeom>
            <a:solidFill>
              <a:srgbClr val="FFFB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25795" y="3031235"/>
              <a:ext cx="4188460" cy="3337560"/>
            </a:xfrm>
            <a:custGeom>
              <a:avLst/>
              <a:gdLst/>
              <a:ahLst/>
              <a:cxnLst/>
              <a:rect l="l" t="t" r="r" b="b"/>
              <a:pathLst>
                <a:path w="4188459" h="3337560">
                  <a:moveTo>
                    <a:pt x="0" y="146176"/>
                  </a:moveTo>
                  <a:lnTo>
                    <a:pt x="7448" y="99958"/>
                  </a:lnTo>
                  <a:lnTo>
                    <a:pt x="28191" y="59829"/>
                  </a:lnTo>
                  <a:lnTo>
                    <a:pt x="59829" y="28191"/>
                  </a:lnTo>
                  <a:lnTo>
                    <a:pt x="99958" y="7448"/>
                  </a:lnTo>
                  <a:lnTo>
                    <a:pt x="146176" y="0"/>
                  </a:lnTo>
                  <a:lnTo>
                    <a:pt x="4041775" y="0"/>
                  </a:lnTo>
                  <a:lnTo>
                    <a:pt x="4087993" y="7448"/>
                  </a:lnTo>
                  <a:lnTo>
                    <a:pt x="4128122" y="28191"/>
                  </a:lnTo>
                  <a:lnTo>
                    <a:pt x="4159760" y="59829"/>
                  </a:lnTo>
                  <a:lnTo>
                    <a:pt x="4180503" y="99958"/>
                  </a:lnTo>
                  <a:lnTo>
                    <a:pt x="4187952" y="146176"/>
                  </a:lnTo>
                  <a:lnTo>
                    <a:pt x="4187952" y="3191383"/>
                  </a:lnTo>
                  <a:lnTo>
                    <a:pt x="4180503" y="3237601"/>
                  </a:lnTo>
                  <a:lnTo>
                    <a:pt x="4159760" y="3277730"/>
                  </a:lnTo>
                  <a:lnTo>
                    <a:pt x="4128122" y="3309368"/>
                  </a:lnTo>
                  <a:lnTo>
                    <a:pt x="4087993" y="3330111"/>
                  </a:lnTo>
                  <a:lnTo>
                    <a:pt x="4041775" y="3337559"/>
                  </a:lnTo>
                  <a:lnTo>
                    <a:pt x="146176" y="3337559"/>
                  </a:lnTo>
                  <a:lnTo>
                    <a:pt x="99958" y="3330111"/>
                  </a:lnTo>
                  <a:lnTo>
                    <a:pt x="59829" y="3309368"/>
                  </a:lnTo>
                  <a:lnTo>
                    <a:pt x="28191" y="3277730"/>
                  </a:lnTo>
                  <a:lnTo>
                    <a:pt x="7448" y="3237601"/>
                  </a:lnTo>
                  <a:lnTo>
                    <a:pt x="0" y="3191383"/>
                  </a:lnTo>
                  <a:lnTo>
                    <a:pt x="0" y="146176"/>
                  </a:lnTo>
                  <a:close/>
                </a:path>
              </a:pathLst>
            </a:custGeom>
            <a:ln w="30480">
              <a:solidFill>
                <a:srgbClr val="D1C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84647" y="3026663"/>
              <a:ext cx="128270" cy="3337560"/>
            </a:xfrm>
            <a:custGeom>
              <a:avLst/>
              <a:gdLst/>
              <a:ahLst/>
              <a:cxnLst/>
              <a:rect l="l" t="t" r="r" b="b"/>
              <a:pathLst>
                <a:path w="128270" h="3337560">
                  <a:moveTo>
                    <a:pt x="64007" y="0"/>
                  </a:move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8"/>
                  </a:lnTo>
                  <a:lnTo>
                    <a:pt x="0" y="3273552"/>
                  </a:lnTo>
                  <a:lnTo>
                    <a:pt x="5036" y="3298447"/>
                  </a:lnTo>
                  <a:lnTo>
                    <a:pt x="18764" y="3318795"/>
                  </a:lnTo>
                  <a:lnTo>
                    <a:pt x="39112" y="3332523"/>
                  </a:lnTo>
                  <a:lnTo>
                    <a:pt x="64007" y="3337560"/>
                  </a:lnTo>
                  <a:lnTo>
                    <a:pt x="88903" y="3332523"/>
                  </a:lnTo>
                  <a:lnTo>
                    <a:pt x="109251" y="3318795"/>
                  </a:lnTo>
                  <a:lnTo>
                    <a:pt x="122979" y="3298447"/>
                  </a:lnTo>
                  <a:lnTo>
                    <a:pt x="128015" y="3273552"/>
                  </a:lnTo>
                  <a:lnTo>
                    <a:pt x="128015" y="64008"/>
                  </a:lnTo>
                  <a:lnTo>
                    <a:pt x="122979" y="39112"/>
                  </a:lnTo>
                  <a:lnTo>
                    <a:pt x="109251" y="18764"/>
                  </a:lnTo>
                  <a:lnTo>
                    <a:pt x="88903" y="5036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835E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556630" y="3255454"/>
            <a:ext cx="1318260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65" dirty="0">
                <a:solidFill>
                  <a:srgbClr val="443728"/>
                </a:solidFill>
                <a:latin typeface="Times New Roman"/>
                <a:cs typeface="Times New Roman"/>
              </a:rPr>
              <a:t>Diccionario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56630" y="3717302"/>
            <a:ext cx="3018790" cy="22409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272415" indent="-343535">
              <a:lnSpc>
                <a:spcPct val="141300"/>
              </a:lnSpc>
              <a:spcBef>
                <a:spcPts val="90"/>
              </a:spcBef>
              <a:buChar char="•"/>
              <a:tabLst>
                <a:tab pos="355600" algn="l"/>
              </a:tabLst>
            </a:pP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Organizar</a:t>
            </a:r>
            <a:r>
              <a:rPr sz="1700" spc="-7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palabras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por </a:t>
            </a: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categorías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15"/>
              </a:spcBef>
              <a:buChar char="•"/>
              <a:tabLst>
                <a:tab pos="355600" algn="l"/>
              </a:tabLst>
            </a:pP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Clasificar</a:t>
            </a:r>
            <a:r>
              <a:rPr sz="1700" spc="-7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120" dirty="0">
                <a:solidFill>
                  <a:srgbClr val="443728"/>
                </a:solidFill>
                <a:latin typeface="Tahoma"/>
                <a:cs typeface="Tahoma"/>
              </a:rPr>
              <a:t>por</a:t>
            </a:r>
            <a:r>
              <a:rPr sz="1700" spc="-7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tecnología</a:t>
            </a:r>
            <a:r>
              <a:rPr sz="1700" spc="-4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y</a:t>
            </a:r>
            <a:endParaRPr sz="17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844"/>
              </a:spcBef>
            </a:pP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sociedad</a:t>
            </a:r>
            <a:endParaRPr sz="1700">
              <a:latin typeface="Tahoma"/>
              <a:cs typeface="Tahoma"/>
            </a:endParaRPr>
          </a:p>
          <a:p>
            <a:pPr marL="355600" marR="330200" indent="-343535">
              <a:lnSpc>
                <a:spcPts val="2950"/>
              </a:lnSpc>
              <a:spcBef>
                <a:spcPts val="45"/>
              </a:spcBef>
              <a:buChar char="•"/>
              <a:tabLst>
                <a:tab pos="355600" algn="l"/>
              </a:tabLst>
            </a:pP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Acceso</a:t>
            </a:r>
            <a:r>
              <a:rPr sz="1700" spc="-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0" dirty="0">
                <a:solidFill>
                  <a:srgbClr val="443728"/>
                </a:solidFill>
                <a:latin typeface="Tahoma"/>
                <a:cs typeface="Tahoma"/>
              </a:rPr>
              <a:t>rápido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a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temas </a:t>
            </a: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específicos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610343" y="3015995"/>
            <a:ext cx="4244340" cy="3368040"/>
            <a:chOff x="9610343" y="3015995"/>
            <a:chExt cx="4244340" cy="3368040"/>
          </a:xfrm>
        </p:grpSpPr>
        <p:sp>
          <p:nvSpPr>
            <p:cNvPr id="16" name="object 16"/>
            <p:cNvSpPr/>
            <p:nvPr/>
          </p:nvSpPr>
          <p:spPr>
            <a:xfrm>
              <a:off x="9642347" y="3031235"/>
              <a:ext cx="4197350" cy="3337560"/>
            </a:xfrm>
            <a:custGeom>
              <a:avLst/>
              <a:gdLst/>
              <a:ahLst/>
              <a:cxnLst/>
              <a:rect l="l" t="t" r="r" b="b"/>
              <a:pathLst>
                <a:path w="4197350" h="3337560">
                  <a:moveTo>
                    <a:pt x="4050919" y="0"/>
                  </a:moveTo>
                  <a:lnTo>
                    <a:pt x="146176" y="0"/>
                  </a:lnTo>
                  <a:lnTo>
                    <a:pt x="99958" y="7448"/>
                  </a:lnTo>
                  <a:lnTo>
                    <a:pt x="59829" y="28191"/>
                  </a:lnTo>
                  <a:lnTo>
                    <a:pt x="28191" y="59829"/>
                  </a:lnTo>
                  <a:lnTo>
                    <a:pt x="7448" y="99958"/>
                  </a:lnTo>
                  <a:lnTo>
                    <a:pt x="0" y="146176"/>
                  </a:lnTo>
                  <a:lnTo>
                    <a:pt x="0" y="3191383"/>
                  </a:lnTo>
                  <a:lnTo>
                    <a:pt x="7448" y="3237601"/>
                  </a:lnTo>
                  <a:lnTo>
                    <a:pt x="28191" y="3277730"/>
                  </a:lnTo>
                  <a:lnTo>
                    <a:pt x="59829" y="3309368"/>
                  </a:lnTo>
                  <a:lnTo>
                    <a:pt x="99958" y="3330111"/>
                  </a:lnTo>
                  <a:lnTo>
                    <a:pt x="146176" y="3337559"/>
                  </a:lnTo>
                  <a:lnTo>
                    <a:pt x="4050919" y="3337559"/>
                  </a:lnTo>
                  <a:lnTo>
                    <a:pt x="4097137" y="3330111"/>
                  </a:lnTo>
                  <a:lnTo>
                    <a:pt x="4137266" y="3309368"/>
                  </a:lnTo>
                  <a:lnTo>
                    <a:pt x="4168904" y="3277730"/>
                  </a:lnTo>
                  <a:lnTo>
                    <a:pt x="4189647" y="3237601"/>
                  </a:lnTo>
                  <a:lnTo>
                    <a:pt x="4197096" y="3191383"/>
                  </a:lnTo>
                  <a:lnTo>
                    <a:pt x="4197096" y="146176"/>
                  </a:lnTo>
                  <a:lnTo>
                    <a:pt x="4189647" y="99958"/>
                  </a:lnTo>
                  <a:lnTo>
                    <a:pt x="4168904" y="59829"/>
                  </a:lnTo>
                  <a:lnTo>
                    <a:pt x="4137266" y="28191"/>
                  </a:lnTo>
                  <a:lnTo>
                    <a:pt x="4097137" y="7448"/>
                  </a:lnTo>
                  <a:lnTo>
                    <a:pt x="4050919" y="0"/>
                  </a:lnTo>
                  <a:close/>
                </a:path>
              </a:pathLst>
            </a:custGeom>
            <a:solidFill>
              <a:srgbClr val="FFFB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642347" y="3031235"/>
              <a:ext cx="4197350" cy="3337560"/>
            </a:xfrm>
            <a:custGeom>
              <a:avLst/>
              <a:gdLst/>
              <a:ahLst/>
              <a:cxnLst/>
              <a:rect l="l" t="t" r="r" b="b"/>
              <a:pathLst>
                <a:path w="4197350" h="3337560">
                  <a:moveTo>
                    <a:pt x="0" y="146176"/>
                  </a:moveTo>
                  <a:lnTo>
                    <a:pt x="7448" y="99958"/>
                  </a:lnTo>
                  <a:lnTo>
                    <a:pt x="28191" y="59829"/>
                  </a:lnTo>
                  <a:lnTo>
                    <a:pt x="59829" y="28191"/>
                  </a:lnTo>
                  <a:lnTo>
                    <a:pt x="99958" y="7448"/>
                  </a:lnTo>
                  <a:lnTo>
                    <a:pt x="146176" y="0"/>
                  </a:lnTo>
                  <a:lnTo>
                    <a:pt x="4050919" y="0"/>
                  </a:lnTo>
                  <a:lnTo>
                    <a:pt x="4097137" y="7448"/>
                  </a:lnTo>
                  <a:lnTo>
                    <a:pt x="4137266" y="28191"/>
                  </a:lnTo>
                  <a:lnTo>
                    <a:pt x="4168904" y="59829"/>
                  </a:lnTo>
                  <a:lnTo>
                    <a:pt x="4189647" y="99958"/>
                  </a:lnTo>
                  <a:lnTo>
                    <a:pt x="4197096" y="146176"/>
                  </a:lnTo>
                  <a:lnTo>
                    <a:pt x="4197096" y="3191383"/>
                  </a:lnTo>
                  <a:lnTo>
                    <a:pt x="4189647" y="3237601"/>
                  </a:lnTo>
                  <a:lnTo>
                    <a:pt x="4168904" y="3277730"/>
                  </a:lnTo>
                  <a:lnTo>
                    <a:pt x="4137266" y="3309368"/>
                  </a:lnTo>
                  <a:lnTo>
                    <a:pt x="4097137" y="3330111"/>
                  </a:lnTo>
                  <a:lnTo>
                    <a:pt x="4050919" y="3337559"/>
                  </a:lnTo>
                  <a:lnTo>
                    <a:pt x="146176" y="3337559"/>
                  </a:lnTo>
                  <a:lnTo>
                    <a:pt x="99958" y="3330111"/>
                  </a:lnTo>
                  <a:lnTo>
                    <a:pt x="59829" y="3309368"/>
                  </a:lnTo>
                  <a:lnTo>
                    <a:pt x="28191" y="3277730"/>
                  </a:lnTo>
                  <a:lnTo>
                    <a:pt x="7448" y="3237601"/>
                  </a:lnTo>
                  <a:lnTo>
                    <a:pt x="0" y="3191383"/>
                  </a:lnTo>
                  <a:lnTo>
                    <a:pt x="0" y="146176"/>
                  </a:lnTo>
                  <a:close/>
                </a:path>
              </a:pathLst>
            </a:custGeom>
            <a:ln w="30480">
              <a:solidFill>
                <a:srgbClr val="D1C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10343" y="3026663"/>
              <a:ext cx="119380" cy="3337560"/>
            </a:xfrm>
            <a:custGeom>
              <a:avLst/>
              <a:gdLst/>
              <a:ahLst/>
              <a:cxnLst/>
              <a:rect l="l" t="t" r="r" b="b"/>
              <a:pathLst>
                <a:path w="119379" h="3337560">
                  <a:moveTo>
                    <a:pt x="59435" y="0"/>
                  </a:moveTo>
                  <a:lnTo>
                    <a:pt x="36325" y="4679"/>
                  </a:lnTo>
                  <a:lnTo>
                    <a:pt x="17430" y="17430"/>
                  </a:lnTo>
                  <a:lnTo>
                    <a:pt x="4679" y="36325"/>
                  </a:lnTo>
                  <a:lnTo>
                    <a:pt x="0" y="59436"/>
                  </a:lnTo>
                  <a:lnTo>
                    <a:pt x="0" y="3278124"/>
                  </a:lnTo>
                  <a:lnTo>
                    <a:pt x="4679" y="3301234"/>
                  </a:lnTo>
                  <a:lnTo>
                    <a:pt x="17430" y="3320129"/>
                  </a:lnTo>
                  <a:lnTo>
                    <a:pt x="36325" y="3332880"/>
                  </a:lnTo>
                  <a:lnTo>
                    <a:pt x="59435" y="3337560"/>
                  </a:lnTo>
                  <a:lnTo>
                    <a:pt x="82546" y="3332880"/>
                  </a:lnTo>
                  <a:lnTo>
                    <a:pt x="101441" y="3320129"/>
                  </a:lnTo>
                  <a:lnTo>
                    <a:pt x="114192" y="3301234"/>
                  </a:lnTo>
                  <a:lnTo>
                    <a:pt x="118872" y="3278124"/>
                  </a:lnTo>
                  <a:lnTo>
                    <a:pt x="118872" y="59436"/>
                  </a:lnTo>
                  <a:lnTo>
                    <a:pt x="114192" y="36325"/>
                  </a:lnTo>
                  <a:lnTo>
                    <a:pt x="101441" y="17430"/>
                  </a:lnTo>
                  <a:lnTo>
                    <a:pt x="82546" y="4679"/>
                  </a:lnTo>
                  <a:lnTo>
                    <a:pt x="59435" y="0"/>
                  </a:lnTo>
                  <a:close/>
                </a:path>
              </a:pathLst>
            </a:custGeom>
            <a:solidFill>
              <a:srgbClr val="835E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982581" y="3255454"/>
            <a:ext cx="786130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80" dirty="0">
                <a:solidFill>
                  <a:srgbClr val="443728"/>
                </a:solidFill>
                <a:latin typeface="Times New Roman"/>
                <a:cs typeface="Times New Roman"/>
              </a:rPr>
              <a:t>Tuplas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982581" y="3717302"/>
            <a:ext cx="3584575" cy="149923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5"/>
              </a:spcBef>
              <a:buChar char="•"/>
              <a:tabLst>
                <a:tab pos="355600" algn="l"/>
              </a:tabLst>
            </a:pP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Definir</a:t>
            </a:r>
            <a:r>
              <a:rPr sz="1700" spc="-8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constantes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del</a:t>
            </a:r>
            <a:r>
              <a:rPr sz="1700" spc="-2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30" dirty="0">
                <a:solidFill>
                  <a:srgbClr val="443728"/>
                </a:solidFill>
                <a:latin typeface="Tahoma"/>
                <a:cs typeface="Tahoma"/>
              </a:rPr>
              <a:t>juego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Almacenar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configuración</a:t>
            </a:r>
            <a:r>
              <a:rPr sz="1700" spc="-6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40" dirty="0">
                <a:solidFill>
                  <a:srgbClr val="443728"/>
                </a:solidFill>
                <a:latin typeface="Tahoma"/>
                <a:cs typeface="Tahoma"/>
              </a:rPr>
              <a:t>inicial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15"/>
              </a:spcBef>
              <a:buChar char="•"/>
              <a:tabLst>
                <a:tab pos="355600" algn="l"/>
              </a:tabLst>
            </a:pP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Representar</a:t>
            </a:r>
            <a:r>
              <a:rPr sz="1700" spc="-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estados</a:t>
            </a:r>
            <a:r>
              <a:rPr sz="1700" spc="-2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del</a:t>
            </a:r>
            <a:endParaRPr sz="17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844"/>
              </a:spcBef>
            </a:pP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ahorcado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5" dirty="0"/>
              <a:t>Funciones</a:t>
            </a:r>
            <a:r>
              <a:rPr spc="-204" dirty="0"/>
              <a:t> </a:t>
            </a:r>
            <a:r>
              <a:rPr spc="-100" dirty="0"/>
              <a:t>Implementadas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96290" y="2094738"/>
            <a:ext cx="520065" cy="520065"/>
            <a:chOff x="796290" y="2094738"/>
            <a:chExt cx="520065" cy="520065"/>
          </a:xfrm>
        </p:grpSpPr>
        <p:sp>
          <p:nvSpPr>
            <p:cNvPr id="4" name="object 4"/>
            <p:cNvSpPr/>
            <p:nvPr/>
          </p:nvSpPr>
          <p:spPr>
            <a:xfrm>
              <a:off x="800100" y="2098548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4" h="512444">
                  <a:moveTo>
                    <a:pt x="416471" y="0"/>
                  </a:moveTo>
                  <a:lnTo>
                    <a:pt x="95592" y="0"/>
                  </a:lnTo>
                  <a:lnTo>
                    <a:pt x="58384" y="7512"/>
                  </a:lnTo>
                  <a:lnTo>
                    <a:pt x="27998" y="28003"/>
                  </a:lnTo>
                  <a:lnTo>
                    <a:pt x="7512" y="58400"/>
                  </a:lnTo>
                  <a:lnTo>
                    <a:pt x="0" y="95630"/>
                  </a:lnTo>
                  <a:lnTo>
                    <a:pt x="0" y="416432"/>
                  </a:lnTo>
                  <a:lnTo>
                    <a:pt x="7512" y="453663"/>
                  </a:lnTo>
                  <a:lnTo>
                    <a:pt x="27998" y="484060"/>
                  </a:lnTo>
                  <a:lnTo>
                    <a:pt x="58384" y="504551"/>
                  </a:lnTo>
                  <a:lnTo>
                    <a:pt x="95592" y="512063"/>
                  </a:lnTo>
                  <a:lnTo>
                    <a:pt x="416471" y="512063"/>
                  </a:lnTo>
                  <a:lnTo>
                    <a:pt x="453679" y="504551"/>
                  </a:lnTo>
                  <a:lnTo>
                    <a:pt x="484065" y="484060"/>
                  </a:lnTo>
                  <a:lnTo>
                    <a:pt x="504551" y="453663"/>
                  </a:lnTo>
                  <a:lnTo>
                    <a:pt x="512063" y="416432"/>
                  </a:lnTo>
                  <a:lnTo>
                    <a:pt x="512063" y="95630"/>
                  </a:lnTo>
                  <a:lnTo>
                    <a:pt x="504551" y="58400"/>
                  </a:lnTo>
                  <a:lnTo>
                    <a:pt x="484065" y="28003"/>
                  </a:lnTo>
                  <a:lnTo>
                    <a:pt x="453679" y="7512"/>
                  </a:lnTo>
                  <a:lnTo>
                    <a:pt x="416471" y="0"/>
                  </a:lnTo>
                  <a:close/>
                </a:path>
              </a:pathLst>
            </a:custGeom>
            <a:solidFill>
              <a:srgbClr val="EB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0100" y="2098548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4" h="512444">
                  <a:moveTo>
                    <a:pt x="0" y="95630"/>
                  </a:moveTo>
                  <a:lnTo>
                    <a:pt x="7512" y="58400"/>
                  </a:lnTo>
                  <a:lnTo>
                    <a:pt x="27998" y="28003"/>
                  </a:lnTo>
                  <a:lnTo>
                    <a:pt x="58384" y="7512"/>
                  </a:lnTo>
                  <a:lnTo>
                    <a:pt x="95592" y="0"/>
                  </a:lnTo>
                  <a:lnTo>
                    <a:pt x="416471" y="0"/>
                  </a:lnTo>
                  <a:lnTo>
                    <a:pt x="453679" y="7512"/>
                  </a:lnTo>
                  <a:lnTo>
                    <a:pt x="484065" y="28003"/>
                  </a:lnTo>
                  <a:lnTo>
                    <a:pt x="504551" y="58400"/>
                  </a:lnTo>
                  <a:lnTo>
                    <a:pt x="512063" y="95630"/>
                  </a:lnTo>
                  <a:lnTo>
                    <a:pt x="512063" y="416432"/>
                  </a:lnTo>
                  <a:lnTo>
                    <a:pt x="504551" y="453663"/>
                  </a:lnTo>
                  <a:lnTo>
                    <a:pt x="484065" y="484060"/>
                  </a:lnTo>
                  <a:lnTo>
                    <a:pt x="453679" y="504551"/>
                  </a:lnTo>
                  <a:lnTo>
                    <a:pt x="416471" y="512063"/>
                  </a:lnTo>
                  <a:lnTo>
                    <a:pt x="95592" y="512063"/>
                  </a:lnTo>
                  <a:lnTo>
                    <a:pt x="58384" y="504551"/>
                  </a:lnTo>
                  <a:lnTo>
                    <a:pt x="27998" y="484060"/>
                  </a:lnTo>
                  <a:lnTo>
                    <a:pt x="7512" y="453663"/>
                  </a:lnTo>
                  <a:lnTo>
                    <a:pt x="0" y="416432"/>
                  </a:lnTo>
                  <a:lnTo>
                    <a:pt x="0" y="95630"/>
                  </a:lnTo>
                  <a:close/>
                </a:path>
              </a:pathLst>
            </a:custGeom>
            <a:ln w="7620">
              <a:solidFill>
                <a:srgbClr val="D1C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96290" y="3484626"/>
            <a:ext cx="520065" cy="520065"/>
            <a:chOff x="796290" y="3484626"/>
            <a:chExt cx="520065" cy="520065"/>
          </a:xfrm>
        </p:grpSpPr>
        <p:sp>
          <p:nvSpPr>
            <p:cNvPr id="7" name="object 7"/>
            <p:cNvSpPr/>
            <p:nvPr/>
          </p:nvSpPr>
          <p:spPr>
            <a:xfrm>
              <a:off x="800100" y="3488436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4" h="512445">
                  <a:moveTo>
                    <a:pt x="416471" y="0"/>
                  </a:moveTo>
                  <a:lnTo>
                    <a:pt x="95592" y="0"/>
                  </a:lnTo>
                  <a:lnTo>
                    <a:pt x="58384" y="7512"/>
                  </a:lnTo>
                  <a:lnTo>
                    <a:pt x="27998" y="28003"/>
                  </a:lnTo>
                  <a:lnTo>
                    <a:pt x="7512" y="58400"/>
                  </a:lnTo>
                  <a:lnTo>
                    <a:pt x="0" y="95630"/>
                  </a:lnTo>
                  <a:lnTo>
                    <a:pt x="0" y="416433"/>
                  </a:lnTo>
                  <a:lnTo>
                    <a:pt x="7512" y="453663"/>
                  </a:lnTo>
                  <a:lnTo>
                    <a:pt x="27998" y="484060"/>
                  </a:lnTo>
                  <a:lnTo>
                    <a:pt x="58384" y="504551"/>
                  </a:lnTo>
                  <a:lnTo>
                    <a:pt x="95592" y="512063"/>
                  </a:lnTo>
                  <a:lnTo>
                    <a:pt x="416471" y="512063"/>
                  </a:lnTo>
                  <a:lnTo>
                    <a:pt x="453679" y="504551"/>
                  </a:lnTo>
                  <a:lnTo>
                    <a:pt x="484065" y="484060"/>
                  </a:lnTo>
                  <a:lnTo>
                    <a:pt x="504551" y="453663"/>
                  </a:lnTo>
                  <a:lnTo>
                    <a:pt x="512063" y="416433"/>
                  </a:lnTo>
                  <a:lnTo>
                    <a:pt x="512063" y="95630"/>
                  </a:lnTo>
                  <a:lnTo>
                    <a:pt x="504551" y="58400"/>
                  </a:lnTo>
                  <a:lnTo>
                    <a:pt x="484065" y="28003"/>
                  </a:lnTo>
                  <a:lnTo>
                    <a:pt x="453679" y="7512"/>
                  </a:lnTo>
                  <a:lnTo>
                    <a:pt x="416471" y="0"/>
                  </a:lnTo>
                  <a:close/>
                </a:path>
              </a:pathLst>
            </a:custGeom>
            <a:solidFill>
              <a:srgbClr val="EB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0100" y="3488436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4" h="512445">
                  <a:moveTo>
                    <a:pt x="0" y="95630"/>
                  </a:moveTo>
                  <a:lnTo>
                    <a:pt x="7512" y="58400"/>
                  </a:lnTo>
                  <a:lnTo>
                    <a:pt x="27998" y="28003"/>
                  </a:lnTo>
                  <a:lnTo>
                    <a:pt x="58384" y="7512"/>
                  </a:lnTo>
                  <a:lnTo>
                    <a:pt x="95592" y="0"/>
                  </a:lnTo>
                  <a:lnTo>
                    <a:pt x="416471" y="0"/>
                  </a:lnTo>
                  <a:lnTo>
                    <a:pt x="453679" y="7512"/>
                  </a:lnTo>
                  <a:lnTo>
                    <a:pt x="484065" y="28003"/>
                  </a:lnTo>
                  <a:lnTo>
                    <a:pt x="504551" y="58400"/>
                  </a:lnTo>
                  <a:lnTo>
                    <a:pt x="512063" y="95630"/>
                  </a:lnTo>
                  <a:lnTo>
                    <a:pt x="512063" y="416433"/>
                  </a:lnTo>
                  <a:lnTo>
                    <a:pt x="504551" y="453663"/>
                  </a:lnTo>
                  <a:lnTo>
                    <a:pt x="484065" y="484060"/>
                  </a:lnTo>
                  <a:lnTo>
                    <a:pt x="453679" y="504551"/>
                  </a:lnTo>
                  <a:lnTo>
                    <a:pt x="416471" y="512063"/>
                  </a:lnTo>
                  <a:lnTo>
                    <a:pt x="95592" y="512063"/>
                  </a:lnTo>
                  <a:lnTo>
                    <a:pt x="58384" y="504551"/>
                  </a:lnTo>
                  <a:lnTo>
                    <a:pt x="27998" y="484060"/>
                  </a:lnTo>
                  <a:lnTo>
                    <a:pt x="7512" y="453663"/>
                  </a:lnTo>
                  <a:lnTo>
                    <a:pt x="0" y="416433"/>
                  </a:lnTo>
                  <a:lnTo>
                    <a:pt x="0" y="95630"/>
                  </a:lnTo>
                  <a:close/>
                </a:path>
              </a:pathLst>
            </a:custGeom>
            <a:ln w="7620">
              <a:solidFill>
                <a:srgbClr val="D1C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96290" y="4865370"/>
            <a:ext cx="520065" cy="520065"/>
            <a:chOff x="796290" y="4865370"/>
            <a:chExt cx="520065" cy="520065"/>
          </a:xfrm>
        </p:grpSpPr>
        <p:sp>
          <p:nvSpPr>
            <p:cNvPr id="10" name="object 10"/>
            <p:cNvSpPr/>
            <p:nvPr/>
          </p:nvSpPr>
          <p:spPr>
            <a:xfrm>
              <a:off x="800100" y="486918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4" h="512445">
                  <a:moveTo>
                    <a:pt x="416471" y="0"/>
                  </a:moveTo>
                  <a:lnTo>
                    <a:pt x="95592" y="0"/>
                  </a:lnTo>
                  <a:lnTo>
                    <a:pt x="58384" y="7512"/>
                  </a:lnTo>
                  <a:lnTo>
                    <a:pt x="27998" y="28003"/>
                  </a:lnTo>
                  <a:lnTo>
                    <a:pt x="7512" y="58400"/>
                  </a:lnTo>
                  <a:lnTo>
                    <a:pt x="0" y="95631"/>
                  </a:lnTo>
                  <a:lnTo>
                    <a:pt x="0" y="416433"/>
                  </a:lnTo>
                  <a:lnTo>
                    <a:pt x="7512" y="453663"/>
                  </a:lnTo>
                  <a:lnTo>
                    <a:pt x="27998" y="484060"/>
                  </a:lnTo>
                  <a:lnTo>
                    <a:pt x="58384" y="504551"/>
                  </a:lnTo>
                  <a:lnTo>
                    <a:pt x="95592" y="512064"/>
                  </a:lnTo>
                  <a:lnTo>
                    <a:pt x="416471" y="512064"/>
                  </a:lnTo>
                  <a:lnTo>
                    <a:pt x="453679" y="504551"/>
                  </a:lnTo>
                  <a:lnTo>
                    <a:pt x="484065" y="484060"/>
                  </a:lnTo>
                  <a:lnTo>
                    <a:pt x="504551" y="453663"/>
                  </a:lnTo>
                  <a:lnTo>
                    <a:pt x="512063" y="416433"/>
                  </a:lnTo>
                  <a:lnTo>
                    <a:pt x="512063" y="95631"/>
                  </a:lnTo>
                  <a:lnTo>
                    <a:pt x="504551" y="58400"/>
                  </a:lnTo>
                  <a:lnTo>
                    <a:pt x="484065" y="28003"/>
                  </a:lnTo>
                  <a:lnTo>
                    <a:pt x="453679" y="7512"/>
                  </a:lnTo>
                  <a:lnTo>
                    <a:pt x="416471" y="0"/>
                  </a:lnTo>
                  <a:close/>
                </a:path>
              </a:pathLst>
            </a:custGeom>
            <a:solidFill>
              <a:srgbClr val="EB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0100" y="486918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4" h="512445">
                  <a:moveTo>
                    <a:pt x="0" y="95631"/>
                  </a:moveTo>
                  <a:lnTo>
                    <a:pt x="7512" y="58400"/>
                  </a:lnTo>
                  <a:lnTo>
                    <a:pt x="27998" y="28003"/>
                  </a:lnTo>
                  <a:lnTo>
                    <a:pt x="58384" y="7512"/>
                  </a:lnTo>
                  <a:lnTo>
                    <a:pt x="95592" y="0"/>
                  </a:lnTo>
                  <a:lnTo>
                    <a:pt x="416471" y="0"/>
                  </a:lnTo>
                  <a:lnTo>
                    <a:pt x="453679" y="7512"/>
                  </a:lnTo>
                  <a:lnTo>
                    <a:pt x="484065" y="28003"/>
                  </a:lnTo>
                  <a:lnTo>
                    <a:pt x="504551" y="58400"/>
                  </a:lnTo>
                  <a:lnTo>
                    <a:pt x="512063" y="95631"/>
                  </a:lnTo>
                  <a:lnTo>
                    <a:pt x="512063" y="416433"/>
                  </a:lnTo>
                  <a:lnTo>
                    <a:pt x="504551" y="453663"/>
                  </a:lnTo>
                  <a:lnTo>
                    <a:pt x="484065" y="484060"/>
                  </a:lnTo>
                  <a:lnTo>
                    <a:pt x="453679" y="504551"/>
                  </a:lnTo>
                  <a:lnTo>
                    <a:pt x="416471" y="512064"/>
                  </a:lnTo>
                  <a:lnTo>
                    <a:pt x="95592" y="512064"/>
                  </a:lnTo>
                  <a:lnTo>
                    <a:pt x="58384" y="504551"/>
                  </a:lnTo>
                  <a:lnTo>
                    <a:pt x="27998" y="484060"/>
                  </a:lnTo>
                  <a:lnTo>
                    <a:pt x="7512" y="453663"/>
                  </a:lnTo>
                  <a:lnTo>
                    <a:pt x="0" y="416433"/>
                  </a:lnTo>
                  <a:lnTo>
                    <a:pt x="0" y="95631"/>
                  </a:lnTo>
                  <a:close/>
                </a:path>
              </a:pathLst>
            </a:custGeom>
            <a:ln w="7620">
              <a:solidFill>
                <a:srgbClr val="D1C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96290" y="6255258"/>
            <a:ext cx="520065" cy="510540"/>
            <a:chOff x="796290" y="6255258"/>
            <a:chExt cx="520065" cy="510540"/>
          </a:xfrm>
        </p:grpSpPr>
        <p:sp>
          <p:nvSpPr>
            <p:cNvPr id="13" name="object 13"/>
            <p:cNvSpPr/>
            <p:nvPr/>
          </p:nvSpPr>
          <p:spPr>
            <a:xfrm>
              <a:off x="800100" y="6259068"/>
              <a:ext cx="512445" cy="502920"/>
            </a:xfrm>
            <a:custGeom>
              <a:avLst/>
              <a:gdLst/>
              <a:ahLst/>
              <a:cxnLst/>
              <a:rect l="l" t="t" r="r" b="b"/>
              <a:pathLst>
                <a:path w="512444" h="502920">
                  <a:moveTo>
                    <a:pt x="418172" y="0"/>
                  </a:moveTo>
                  <a:lnTo>
                    <a:pt x="93891" y="0"/>
                  </a:lnTo>
                  <a:lnTo>
                    <a:pt x="57344" y="7377"/>
                  </a:lnTo>
                  <a:lnTo>
                    <a:pt x="27500" y="27495"/>
                  </a:lnTo>
                  <a:lnTo>
                    <a:pt x="7378" y="57328"/>
                  </a:lnTo>
                  <a:lnTo>
                    <a:pt x="0" y="93852"/>
                  </a:lnTo>
                  <a:lnTo>
                    <a:pt x="0" y="409066"/>
                  </a:lnTo>
                  <a:lnTo>
                    <a:pt x="7378" y="445591"/>
                  </a:lnTo>
                  <a:lnTo>
                    <a:pt x="27500" y="475424"/>
                  </a:lnTo>
                  <a:lnTo>
                    <a:pt x="57344" y="495542"/>
                  </a:lnTo>
                  <a:lnTo>
                    <a:pt x="93891" y="502919"/>
                  </a:lnTo>
                  <a:lnTo>
                    <a:pt x="418172" y="502919"/>
                  </a:lnTo>
                  <a:lnTo>
                    <a:pt x="454719" y="495542"/>
                  </a:lnTo>
                  <a:lnTo>
                    <a:pt x="484563" y="475424"/>
                  </a:lnTo>
                  <a:lnTo>
                    <a:pt x="504685" y="445591"/>
                  </a:lnTo>
                  <a:lnTo>
                    <a:pt x="512063" y="409066"/>
                  </a:lnTo>
                  <a:lnTo>
                    <a:pt x="512063" y="93852"/>
                  </a:lnTo>
                  <a:lnTo>
                    <a:pt x="504685" y="57328"/>
                  </a:lnTo>
                  <a:lnTo>
                    <a:pt x="484563" y="27495"/>
                  </a:lnTo>
                  <a:lnTo>
                    <a:pt x="454719" y="7377"/>
                  </a:lnTo>
                  <a:lnTo>
                    <a:pt x="418172" y="0"/>
                  </a:lnTo>
                  <a:close/>
                </a:path>
              </a:pathLst>
            </a:custGeom>
            <a:solidFill>
              <a:srgbClr val="EB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0100" y="6259068"/>
              <a:ext cx="512445" cy="502920"/>
            </a:xfrm>
            <a:custGeom>
              <a:avLst/>
              <a:gdLst/>
              <a:ahLst/>
              <a:cxnLst/>
              <a:rect l="l" t="t" r="r" b="b"/>
              <a:pathLst>
                <a:path w="512444" h="502920">
                  <a:moveTo>
                    <a:pt x="0" y="93852"/>
                  </a:moveTo>
                  <a:lnTo>
                    <a:pt x="7378" y="57328"/>
                  </a:lnTo>
                  <a:lnTo>
                    <a:pt x="27500" y="27495"/>
                  </a:lnTo>
                  <a:lnTo>
                    <a:pt x="57344" y="7377"/>
                  </a:lnTo>
                  <a:lnTo>
                    <a:pt x="93891" y="0"/>
                  </a:lnTo>
                  <a:lnTo>
                    <a:pt x="418172" y="0"/>
                  </a:lnTo>
                  <a:lnTo>
                    <a:pt x="454719" y="7377"/>
                  </a:lnTo>
                  <a:lnTo>
                    <a:pt x="484563" y="27495"/>
                  </a:lnTo>
                  <a:lnTo>
                    <a:pt x="504685" y="57328"/>
                  </a:lnTo>
                  <a:lnTo>
                    <a:pt x="512063" y="93852"/>
                  </a:lnTo>
                  <a:lnTo>
                    <a:pt x="512063" y="409066"/>
                  </a:lnTo>
                  <a:lnTo>
                    <a:pt x="504685" y="445591"/>
                  </a:lnTo>
                  <a:lnTo>
                    <a:pt x="484563" y="475424"/>
                  </a:lnTo>
                  <a:lnTo>
                    <a:pt x="454719" y="495542"/>
                  </a:lnTo>
                  <a:lnTo>
                    <a:pt x="418172" y="502919"/>
                  </a:lnTo>
                  <a:lnTo>
                    <a:pt x="93891" y="502919"/>
                  </a:lnTo>
                  <a:lnTo>
                    <a:pt x="57344" y="495542"/>
                  </a:lnTo>
                  <a:lnTo>
                    <a:pt x="27500" y="475424"/>
                  </a:lnTo>
                  <a:lnTo>
                    <a:pt x="7378" y="445591"/>
                  </a:lnTo>
                  <a:lnTo>
                    <a:pt x="0" y="409066"/>
                  </a:lnTo>
                  <a:lnTo>
                    <a:pt x="0" y="93852"/>
                  </a:lnTo>
                  <a:close/>
                </a:path>
              </a:pathLst>
            </a:custGeom>
            <a:ln w="7620">
              <a:solidFill>
                <a:srgbClr val="D1C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xfrm>
            <a:off x="1519047" y="2145601"/>
            <a:ext cx="6137909" cy="5069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10" dirty="0" err="1"/>
              <a:t>mostrar_menu</a:t>
            </a:r>
            <a:r>
              <a:rPr lang="en-US" spc="-10" dirty="0"/>
              <a:t>()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800" b="0" dirty="0" err="1"/>
              <a:t>Muestra</a:t>
            </a:r>
            <a:r>
              <a:rPr lang="en-US" sz="1800" b="0" dirty="0"/>
              <a:t> </a:t>
            </a:r>
            <a:r>
              <a:rPr lang="en-US" sz="1800" b="0" dirty="0" err="1"/>
              <a:t>el</a:t>
            </a:r>
            <a:r>
              <a:rPr lang="en-US" sz="1800" b="0" dirty="0"/>
              <a:t> </a:t>
            </a:r>
            <a:r>
              <a:rPr lang="en-US" sz="1800" b="0" dirty="0" err="1"/>
              <a:t>menú</a:t>
            </a:r>
            <a:r>
              <a:rPr lang="en-US" sz="1800" b="0" dirty="0"/>
              <a:t> principal y las </a:t>
            </a:r>
            <a:r>
              <a:rPr lang="en-US" sz="1800" b="0" dirty="0" err="1"/>
              <a:t>opciones</a:t>
            </a:r>
            <a:r>
              <a:rPr lang="en-US" sz="1800" b="0" dirty="0"/>
              <a:t> del juego.</a:t>
            </a:r>
            <a:endParaRPr sz="1700" b="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lang="en-US" spc="-10" dirty="0" err="1"/>
              <a:t>seleccionar_categoria</a:t>
            </a:r>
            <a:r>
              <a:rPr spc="-10" dirty="0"/>
              <a:t>()</a:t>
            </a:r>
          </a:p>
          <a:p>
            <a:pPr>
              <a:lnSpc>
                <a:spcPct val="100000"/>
              </a:lnSpc>
            </a:pPr>
            <a:r>
              <a:rPr lang="en-US" sz="1800" b="0" dirty="0" err="1"/>
              <a:t>Permite</a:t>
            </a:r>
            <a:r>
              <a:rPr lang="en-US" sz="1800" b="0" dirty="0"/>
              <a:t> al </a:t>
            </a:r>
            <a:r>
              <a:rPr lang="en-US" sz="1800" b="0" dirty="0" err="1"/>
              <a:t>usuario</a:t>
            </a:r>
            <a:r>
              <a:rPr lang="en-US" sz="1800" b="0" dirty="0"/>
              <a:t> </a:t>
            </a:r>
            <a:r>
              <a:rPr lang="en-US" sz="1800" b="0" dirty="0" err="1"/>
              <a:t>elegir</a:t>
            </a:r>
            <a:r>
              <a:rPr lang="en-US" sz="1800" b="0" dirty="0"/>
              <a:t> </a:t>
            </a:r>
            <a:r>
              <a:rPr lang="en-US" sz="1800" b="0" dirty="0" err="1"/>
              <a:t>una</a:t>
            </a:r>
            <a:r>
              <a:rPr lang="en-US" sz="1800" b="0" dirty="0"/>
              <a:t> </a:t>
            </a:r>
            <a:r>
              <a:rPr lang="en-US" sz="1800" b="0" dirty="0" err="1"/>
              <a:t>categoría</a:t>
            </a:r>
            <a:r>
              <a:rPr lang="en-US" sz="1800" b="0" dirty="0"/>
              <a:t> del </a:t>
            </a:r>
            <a:r>
              <a:rPr lang="en-US" sz="1800" b="0" dirty="0" err="1"/>
              <a:t>diccionario</a:t>
            </a:r>
            <a:r>
              <a:rPr lang="en-US" sz="1800" b="0" dirty="0"/>
              <a:t>.</a:t>
            </a:r>
            <a:endParaRPr sz="1700" b="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lang="en-US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lang="en-US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10" dirty="0" err="1"/>
              <a:t>elegir_palabra</a:t>
            </a:r>
            <a:r>
              <a:rPr spc="-10" dirty="0"/>
              <a:t>()</a:t>
            </a:r>
          </a:p>
          <a:p>
            <a:r>
              <a:rPr lang="en-US" sz="1800" b="0" dirty="0" err="1"/>
              <a:t>Selecciona</a:t>
            </a:r>
            <a:r>
              <a:rPr lang="en-US" sz="1800" b="0" dirty="0"/>
              <a:t> </a:t>
            </a:r>
            <a:r>
              <a:rPr lang="en-US" sz="1800" b="0" dirty="0" err="1"/>
              <a:t>aleatoriamente</a:t>
            </a:r>
            <a:r>
              <a:rPr lang="en-US" sz="1800" b="0" dirty="0"/>
              <a:t> </a:t>
            </a:r>
            <a:r>
              <a:rPr lang="en-US" sz="1800" b="0" dirty="0" err="1"/>
              <a:t>una</a:t>
            </a:r>
            <a:r>
              <a:rPr lang="en-US" sz="1800" b="0" dirty="0"/>
              <a:t> palabra </a:t>
            </a:r>
            <a:r>
              <a:rPr lang="en-US" sz="1800" b="0" dirty="0" err="1"/>
              <a:t>según</a:t>
            </a:r>
            <a:r>
              <a:rPr lang="en-US" sz="1800" b="0" dirty="0"/>
              <a:t> la </a:t>
            </a:r>
            <a:r>
              <a:rPr lang="en-US" sz="1800" b="0" dirty="0" err="1"/>
              <a:t>categoría</a:t>
            </a:r>
            <a:r>
              <a:rPr lang="en-US" sz="1800" b="0" dirty="0"/>
              <a:t> </a:t>
            </a:r>
            <a:r>
              <a:rPr lang="en-US" sz="1800" b="0" dirty="0" err="1"/>
              <a:t>elegida</a:t>
            </a:r>
            <a:r>
              <a:rPr lang="en-US" sz="1800" b="0" dirty="0"/>
              <a:t> </a:t>
            </a:r>
            <a:r>
              <a:rPr lang="en-US" sz="1800" b="0" dirty="0" err="1"/>
              <a:t>usando</a:t>
            </a:r>
            <a:r>
              <a:rPr lang="en-US" sz="1800" b="0" dirty="0"/>
              <a:t> </a:t>
            </a:r>
            <a:r>
              <a:rPr lang="en-US" sz="1800" b="0" dirty="0" err="1"/>
              <a:t>random.choice</a:t>
            </a:r>
            <a:r>
              <a:rPr lang="en-US" sz="1800" b="0" dirty="0"/>
              <a:t>().</a:t>
            </a: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lang="en-US" spc="-10" dirty="0" err="1"/>
              <a:t>validar_letra</a:t>
            </a:r>
            <a:r>
              <a:rPr spc="-10" dirty="0"/>
              <a:t>()</a:t>
            </a:r>
            <a:endParaRPr lang="en-US" spc="-10" dirty="0"/>
          </a:p>
          <a:p>
            <a:pPr marL="12700">
              <a:lnSpc>
                <a:spcPct val="100000"/>
              </a:lnSpc>
            </a:pPr>
            <a:r>
              <a:rPr lang="en-US" sz="1800" b="0" dirty="0" err="1"/>
              <a:t>Verifica</a:t>
            </a:r>
            <a:r>
              <a:rPr lang="en-US" sz="1800" b="0" dirty="0"/>
              <a:t> </a:t>
            </a:r>
            <a:r>
              <a:rPr lang="en-US" sz="1800" b="0" dirty="0" err="1"/>
              <a:t>que</a:t>
            </a:r>
            <a:r>
              <a:rPr lang="en-US" sz="1800" b="0" dirty="0"/>
              <a:t> la entrada del </a:t>
            </a:r>
            <a:r>
              <a:rPr lang="en-US" sz="1800" b="0" dirty="0" err="1"/>
              <a:t>usuario</a:t>
            </a:r>
            <a:r>
              <a:rPr lang="en-US" sz="1800" b="0" dirty="0"/>
              <a:t> sea </a:t>
            </a:r>
            <a:r>
              <a:rPr lang="en-US" sz="1800" b="0" dirty="0" err="1"/>
              <a:t>una</a:t>
            </a:r>
            <a:r>
              <a:rPr lang="en-US" sz="1800" b="0" dirty="0"/>
              <a:t> </a:t>
            </a:r>
            <a:r>
              <a:rPr lang="en-US" sz="1800" b="0" dirty="0" err="1"/>
              <a:t>letra</a:t>
            </a:r>
            <a:r>
              <a:rPr lang="en-US" sz="1800" b="0" dirty="0"/>
              <a:t> </a:t>
            </a:r>
            <a:r>
              <a:rPr lang="en-US" sz="1800" b="0" dirty="0" err="1"/>
              <a:t>válida</a:t>
            </a:r>
            <a:r>
              <a:rPr lang="en-US" sz="1800" b="0" dirty="0"/>
              <a:t> y no </a:t>
            </a:r>
            <a:r>
              <a:rPr lang="en-US" sz="1800" b="0" dirty="0" err="1"/>
              <a:t>repetida</a:t>
            </a:r>
            <a:r>
              <a:rPr lang="en-US" sz="1800" b="0" dirty="0"/>
              <a:t>.</a:t>
            </a:r>
            <a:endParaRPr sz="1700" b="0" dirty="0">
              <a:latin typeface="Tahoma"/>
              <a:cs typeface="Tahoma"/>
            </a:endParaRPr>
          </a:p>
        </p:txBody>
      </p:sp>
      <p:grpSp>
        <p:nvGrpSpPr>
          <p:cNvPr id="16" name="object 3">
            <a:extLst>
              <a:ext uri="{FF2B5EF4-FFF2-40B4-BE49-F238E27FC236}">
                <a16:creationId xmlns:a16="http://schemas.microsoft.com/office/drawing/2014/main" id="{1F5B32E8-503F-ED5B-51EC-E0CAB0D0165B}"/>
              </a:ext>
            </a:extLst>
          </p:cNvPr>
          <p:cNvGrpSpPr/>
          <p:nvPr/>
        </p:nvGrpSpPr>
        <p:grpSpPr>
          <a:xfrm>
            <a:off x="8229600" y="2968371"/>
            <a:ext cx="520065" cy="520065"/>
            <a:chOff x="796290" y="2094738"/>
            <a:chExt cx="520065" cy="52006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3D8687D7-D1B3-245D-6AA4-D9FB29154DE5}"/>
                </a:ext>
              </a:extLst>
            </p:cNvPr>
            <p:cNvSpPr/>
            <p:nvPr/>
          </p:nvSpPr>
          <p:spPr>
            <a:xfrm>
              <a:off x="800100" y="2098548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4" h="512444">
                  <a:moveTo>
                    <a:pt x="416471" y="0"/>
                  </a:moveTo>
                  <a:lnTo>
                    <a:pt x="95592" y="0"/>
                  </a:lnTo>
                  <a:lnTo>
                    <a:pt x="58384" y="7512"/>
                  </a:lnTo>
                  <a:lnTo>
                    <a:pt x="27998" y="28003"/>
                  </a:lnTo>
                  <a:lnTo>
                    <a:pt x="7512" y="58400"/>
                  </a:lnTo>
                  <a:lnTo>
                    <a:pt x="0" y="95630"/>
                  </a:lnTo>
                  <a:lnTo>
                    <a:pt x="0" y="416432"/>
                  </a:lnTo>
                  <a:lnTo>
                    <a:pt x="7512" y="453663"/>
                  </a:lnTo>
                  <a:lnTo>
                    <a:pt x="27998" y="484060"/>
                  </a:lnTo>
                  <a:lnTo>
                    <a:pt x="58384" y="504551"/>
                  </a:lnTo>
                  <a:lnTo>
                    <a:pt x="95592" y="512063"/>
                  </a:lnTo>
                  <a:lnTo>
                    <a:pt x="416471" y="512063"/>
                  </a:lnTo>
                  <a:lnTo>
                    <a:pt x="453679" y="504551"/>
                  </a:lnTo>
                  <a:lnTo>
                    <a:pt x="484065" y="484060"/>
                  </a:lnTo>
                  <a:lnTo>
                    <a:pt x="504551" y="453663"/>
                  </a:lnTo>
                  <a:lnTo>
                    <a:pt x="512063" y="416432"/>
                  </a:lnTo>
                  <a:lnTo>
                    <a:pt x="512063" y="95630"/>
                  </a:lnTo>
                  <a:lnTo>
                    <a:pt x="504551" y="58400"/>
                  </a:lnTo>
                  <a:lnTo>
                    <a:pt x="484065" y="28003"/>
                  </a:lnTo>
                  <a:lnTo>
                    <a:pt x="453679" y="7512"/>
                  </a:lnTo>
                  <a:lnTo>
                    <a:pt x="416471" y="0"/>
                  </a:lnTo>
                  <a:close/>
                </a:path>
              </a:pathLst>
            </a:custGeom>
            <a:solidFill>
              <a:srgbClr val="EB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718EDF2-C80C-045E-4139-B69D4ACEE1AF}"/>
                </a:ext>
              </a:extLst>
            </p:cNvPr>
            <p:cNvSpPr/>
            <p:nvPr/>
          </p:nvSpPr>
          <p:spPr>
            <a:xfrm>
              <a:off x="800100" y="2098548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4" h="512444">
                  <a:moveTo>
                    <a:pt x="0" y="95630"/>
                  </a:moveTo>
                  <a:lnTo>
                    <a:pt x="7512" y="58400"/>
                  </a:lnTo>
                  <a:lnTo>
                    <a:pt x="27998" y="28003"/>
                  </a:lnTo>
                  <a:lnTo>
                    <a:pt x="58384" y="7512"/>
                  </a:lnTo>
                  <a:lnTo>
                    <a:pt x="95592" y="0"/>
                  </a:lnTo>
                  <a:lnTo>
                    <a:pt x="416471" y="0"/>
                  </a:lnTo>
                  <a:lnTo>
                    <a:pt x="453679" y="7512"/>
                  </a:lnTo>
                  <a:lnTo>
                    <a:pt x="484065" y="28003"/>
                  </a:lnTo>
                  <a:lnTo>
                    <a:pt x="504551" y="58400"/>
                  </a:lnTo>
                  <a:lnTo>
                    <a:pt x="512063" y="95630"/>
                  </a:lnTo>
                  <a:lnTo>
                    <a:pt x="512063" y="416432"/>
                  </a:lnTo>
                  <a:lnTo>
                    <a:pt x="504551" y="453663"/>
                  </a:lnTo>
                  <a:lnTo>
                    <a:pt x="484065" y="484060"/>
                  </a:lnTo>
                  <a:lnTo>
                    <a:pt x="453679" y="504551"/>
                  </a:lnTo>
                  <a:lnTo>
                    <a:pt x="416471" y="512063"/>
                  </a:lnTo>
                  <a:lnTo>
                    <a:pt x="95592" y="512063"/>
                  </a:lnTo>
                  <a:lnTo>
                    <a:pt x="58384" y="504551"/>
                  </a:lnTo>
                  <a:lnTo>
                    <a:pt x="27998" y="484060"/>
                  </a:lnTo>
                  <a:lnTo>
                    <a:pt x="7512" y="453663"/>
                  </a:lnTo>
                  <a:lnTo>
                    <a:pt x="0" y="416432"/>
                  </a:lnTo>
                  <a:lnTo>
                    <a:pt x="0" y="95630"/>
                  </a:lnTo>
                  <a:close/>
                </a:path>
              </a:pathLst>
            </a:custGeom>
            <a:ln w="7620">
              <a:solidFill>
                <a:srgbClr val="D1C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9">
            <a:extLst>
              <a:ext uri="{FF2B5EF4-FFF2-40B4-BE49-F238E27FC236}">
                <a16:creationId xmlns:a16="http://schemas.microsoft.com/office/drawing/2014/main" id="{6AE1FA52-35A6-55CB-F93B-E61CB3F176F7}"/>
              </a:ext>
            </a:extLst>
          </p:cNvPr>
          <p:cNvGrpSpPr/>
          <p:nvPr/>
        </p:nvGrpSpPr>
        <p:grpSpPr>
          <a:xfrm>
            <a:off x="8233410" y="5121592"/>
            <a:ext cx="520065" cy="520065"/>
            <a:chOff x="796290" y="4865370"/>
            <a:chExt cx="520065" cy="520065"/>
          </a:xfrm>
        </p:grpSpPr>
        <p:sp>
          <p:nvSpPr>
            <p:cNvPr id="20" name="object 10">
              <a:extLst>
                <a:ext uri="{FF2B5EF4-FFF2-40B4-BE49-F238E27FC236}">
                  <a16:creationId xmlns:a16="http://schemas.microsoft.com/office/drawing/2014/main" id="{C2F9464B-48EA-F3AB-A97D-4FBB75979A01}"/>
                </a:ext>
              </a:extLst>
            </p:cNvPr>
            <p:cNvSpPr/>
            <p:nvPr/>
          </p:nvSpPr>
          <p:spPr>
            <a:xfrm>
              <a:off x="800100" y="486918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4" h="512445">
                  <a:moveTo>
                    <a:pt x="416471" y="0"/>
                  </a:moveTo>
                  <a:lnTo>
                    <a:pt x="95592" y="0"/>
                  </a:lnTo>
                  <a:lnTo>
                    <a:pt x="58384" y="7512"/>
                  </a:lnTo>
                  <a:lnTo>
                    <a:pt x="27998" y="28003"/>
                  </a:lnTo>
                  <a:lnTo>
                    <a:pt x="7512" y="58400"/>
                  </a:lnTo>
                  <a:lnTo>
                    <a:pt x="0" y="95631"/>
                  </a:lnTo>
                  <a:lnTo>
                    <a:pt x="0" y="416433"/>
                  </a:lnTo>
                  <a:lnTo>
                    <a:pt x="7512" y="453663"/>
                  </a:lnTo>
                  <a:lnTo>
                    <a:pt x="27998" y="484060"/>
                  </a:lnTo>
                  <a:lnTo>
                    <a:pt x="58384" y="504551"/>
                  </a:lnTo>
                  <a:lnTo>
                    <a:pt x="95592" y="512064"/>
                  </a:lnTo>
                  <a:lnTo>
                    <a:pt x="416471" y="512064"/>
                  </a:lnTo>
                  <a:lnTo>
                    <a:pt x="453679" y="504551"/>
                  </a:lnTo>
                  <a:lnTo>
                    <a:pt x="484065" y="484060"/>
                  </a:lnTo>
                  <a:lnTo>
                    <a:pt x="504551" y="453663"/>
                  </a:lnTo>
                  <a:lnTo>
                    <a:pt x="512063" y="416433"/>
                  </a:lnTo>
                  <a:lnTo>
                    <a:pt x="512063" y="95631"/>
                  </a:lnTo>
                  <a:lnTo>
                    <a:pt x="504551" y="58400"/>
                  </a:lnTo>
                  <a:lnTo>
                    <a:pt x="484065" y="28003"/>
                  </a:lnTo>
                  <a:lnTo>
                    <a:pt x="453679" y="7512"/>
                  </a:lnTo>
                  <a:lnTo>
                    <a:pt x="416471" y="0"/>
                  </a:lnTo>
                  <a:close/>
                </a:path>
              </a:pathLst>
            </a:custGeom>
            <a:solidFill>
              <a:srgbClr val="EB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828F330A-0A67-7A0A-EC60-5021B8A3BD7E}"/>
                </a:ext>
              </a:extLst>
            </p:cNvPr>
            <p:cNvSpPr/>
            <p:nvPr/>
          </p:nvSpPr>
          <p:spPr>
            <a:xfrm>
              <a:off x="800100" y="486918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4" h="512445">
                  <a:moveTo>
                    <a:pt x="0" y="95631"/>
                  </a:moveTo>
                  <a:lnTo>
                    <a:pt x="7512" y="58400"/>
                  </a:lnTo>
                  <a:lnTo>
                    <a:pt x="27998" y="28003"/>
                  </a:lnTo>
                  <a:lnTo>
                    <a:pt x="58384" y="7512"/>
                  </a:lnTo>
                  <a:lnTo>
                    <a:pt x="95592" y="0"/>
                  </a:lnTo>
                  <a:lnTo>
                    <a:pt x="416471" y="0"/>
                  </a:lnTo>
                  <a:lnTo>
                    <a:pt x="453679" y="7512"/>
                  </a:lnTo>
                  <a:lnTo>
                    <a:pt x="484065" y="28003"/>
                  </a:lnTo>
                  <a:lnTo>
                    <a:pt x="504551" y="58400"/>
                  </a:lnTo>
                  <a:lnTo>
                    <a:pt x="512063" y="95631"/>
                  </a:lnTo>
                  <a:lnTo>
                    <a:pt x="512063" y="416433"/>
                  </a:lnTo>
                  <a:lnTo>
                    <a:pt x="504551" y="453663"/>
                  </a:lnTo>
                  <a:lnTo>
                    <a:pt x="484065" y="484060"/>
                  </a:lnTo>
                  <a:lnTo>
                    <a:pt x="453679" y="504551"/>
                  </a:lnTo>
                  <a:lnTo>
                    <a:pt x="416471" y="512064"/>
                  </a:lnTo>
                  <a:lnTo>
                    <a:pt x="95592" y="512064"/>
                  </a:lnTo>
                  <a:lnTo>
                    <a:pt x="58384" y="504551"/>
                  </a:lnTo>
                  <a:lnTo>
                    <a:pt x="27998" y="484060"/>
                  </a:lnTo>
                  <a:lnTo>
                    <a:pt x="7512" y="453663"/>
                  </a:lnTo>
                  <a:lnTo>
                    <a:pt x="0" y="416433"/>
                  </a:lnTo>
                  <a:lnTo>
                    <a:pt x="0" y="95631"/>
                  </a:lnTo>
                  <a:close/>
                </a:path>
              </a:pathLst>
            </a:custGeom>
            <a:ln w="7620">
              <a:solidFill>
                <a:srgbClr val="D1C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15">
            <a:extLst>
              <a:ext uri="{FF2B5EF4-FFF2-40B4-BE49-F238E27FC236}">
                <a16:creationId xmlns:a16="http://schemas.microsoft.com/office/drawing/2014/main" id="{8C1E4E62-0C27-3704-49CE-4A14C08550FF}"/>
              </a:ext>
            </a:extLst>
          </p:cNvPr>
          <p:cNvSpPr txBox="1">
            <a:spLocks/>
          </p:cNvSpPr>
          <p:nvPr/>
        </p:nvSpPr>
        <p:spPr>
          <a:xfrm>
            <a:off x="8915401" y="2975356"/>
            <a:ext cx="5562600" cy="4310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 marL="0">
              <a:defRPr sz="2200" b="1" i="0">
                <a:solidFill>
                  <a:srgbClr val="443728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35"/>
              </a:spcBef>
            </a:pPr>
            <a:r>
              <a:rPr lang="en-US" dirty="0" err="1"/>
              <a:t>mostrar_estado</a:t>
            </a:r>
            <a:r>
              <a:rPr lang="en-US" dirty="0"/>
              <a:t>()</a:t>
            </a:r>
            <a:br>
              <a:rPr lang="en-US" dirty="0"/>
            </a:br>
            <a:r>
              <a:rPr lang="en-US" b="0" dirty="0" err="1"/>
              <a:t>Muestra</a:t>
            </a:r>
            <a:r>
              <a:rPr lang="en-US" b="0" dirty="0"/>
              <a:t> la palabra </a:t>
            </a:r>
            <a:r>
              <a:rPr lang="en-US" b="0" dirty="0" err="1"/>
              <a:t>oculta</a:t>
            </a:r>
            <a:r>
              <a:rPr lang="en-US" b="0" dirty="0"/>
              <a:t> </a:t>
            </a:r>
            <a:r>
              <a:rPr lang="en-US" b="0" dirty="0" err="1"/>
              <a:t>revelando</a:t>
            </a:r>
            <a:r>
              <a:rPr lang="en-US" b="0" dirty="0"/>
              <a:t> solo las </a:t>
            </a:r>
            <a:r>
              <a:rPr lang="en-US" b="0" dirty="0" err="1"/>
              <a:t>letras</a:t>
            </a:r>
            <a:r>
              <a:rPr lang="en-US" b="0" dirty="0"/>
              <a:t> </a:t>
            </a:r>
            <a:r>
              <a:rPr lang="en-US" b="0" dirty="0" err="1"/>
              <a:t>adivinadas</a:t>
            </a:r>
            <a:r>
              <a:rPr lang="en-US" b="0" dirty="0"/>
              <a:t>.</a:t>
            </a:r>
            <a:endParaRPr lang="en-US" sz="1700" b="0" dirty="0">
              <a:latin typeface="Tahoma"/>
              <a:cs typeface="Tahoma"/>
            </a:endParaRPr>
          </a:p>
          <a:p>
            <a:endParaRPr lang="en-US" sz="1700" dirty="0">
              <a:latin typeface="Tahoma"/>
              <a:cs typeface="Tahoma"/>
            </a:endParaRPr>
          </a:p>
          <a:p>
            <a:endParaRPr lang="en-US" sz="1700" dirty="0">
              <a:latin typeface="Tahoma"/>
              <a:cs typeface="Tahoma"/>
            </a:endParaRPr>
          </a:p>
          <a:p>
            <a:endParaRPr lang="en-US" sz="1700" dirty="0">
              <a:latin typeface="Tahoma"/>
              <a:cs typeface="Tahoma"/>
            </a:endParaRPr>
          </a:p>
          <a:p>
            <a:pPr>
              <a:spcBef>
                <a:spcPts val="335"/>
              </a:spcBef>
            </a:pPr>
            <a:endParaRPr lang="en-US" sz="1700" dirty="0">
              <a:latin typeface="Tahoma"/>
              <a:cs typeface="Tahoma"/>
            </a:endParaRPr>
          </a:p>
          <a:p>
            <a:r>
              <a:rPr lang="en-US" dirty="0" err="1"/>
              <a:t>jugar</a:t>
            </a:r>
            <a:r>
              <a:rPr lang="en-US" dirty="0"/>
              <a:t>()</a:t>
            </a:r>
            <a:br>
              <a:rPr lang="en-US" dirty="0"/>
            </a:br>
            <a:r>
              <a:rPr lang="en-US" b="0" dirty="0" err="1"/>
              <a:t>Controla</a:t>
            </a:r>
            <a:r>
              <a:rPr lang="en-US" b="0" dirty="0"/>
              <a:t> la </a:t>
            </a:r>
            <a:r>
              <a:rPr lang="en-US" b="0" dirty="0" err="1"/>
              <a:t>lógica</a:t>
            </a:r>
            <a:r>
              <a:rPr lang="en-US" b="0" dirty="0"/>
              <a:t> principal del juego y </a:t>
            </a:r>
            <a:r>
              <a:rPr lang="en-US" b="0" dirty="0" err="1"/>
              <a:t>el</a:t>
            </a:r>
            <a:r>
              <a:rPr lang="en-US" b="0" dirty="0"/>
              <a:t> </a:t>
            </a:r>
            <a:r>
              <a:rPr lang="en-US" b="0" dirty="0" err="1"/>
              <a:t>flujo</a:t>
            </a:r>
            <a:r>
              <a:rPr lang="en-US" b="0" dirty="0"/>
              <a:t> de </a:t>
            </a:r>
            <a:r>
              <a:rPr lang="en-US" b="0" dirty="0" err="1"/>
              <a:t>turnos</a:t>
            </a:r>
            <a:r>
              <a:rPr lang="en-US" b="0" dirty="0"/>
              <a:t>.</a:t>
            </a:r>
          </a:p>
          <a:p>
            <a:endParaRPr lang="en-US" sz="1700" b="0" dirty="0">
              <a:latin typeface="Tahoma"/>
              <a:cs typeface="Tahoma"/>
            </a:endParaRPr>
          </a:p>
          <a:p>
            <a:pPr>
              <a:spcBef>
                <a:spcPts val="330"/>
              </a:spcBef>
            </a:pPr>
            <a:endParaRPr lang="en-US" sz="1700" dirty="0">
              <a:latin typeface="Tahoma"/>
              <a:cs typeface="Tahoma"/>
            </a:endParaRPr>
          </a:p>
          <a:p>
            <a:pPr>
              <a:spcBef>
                <a:spcPts val="330"/>
              </a:spcBef>
            </a:pPr>
            <a:endParaRPr lang="en-US" sz="1700" dirty="0">
              <a:latin typeface="Tahoma"/>
              <a:cs typeface="Tahoma"/>
            </a:endParaRPr>
          </a:p>
          <a:p>
            <a:pPr>
              <a:spcBef>
                <a:spcPts val="330"/>
              </a:spcBef>
            </a:pPr>
            <a:endParaRPr lang="en-US" sz="17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570" y="944244"/>
            <a:ext cx="5146675" cy="7067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90" dirty="0"/>
              <a:t>Estructuras</a:t>
            </a:r>
            <a:r>
              <a:rPr spc="-225" dirty="0"/>
              <a:t> </a:t>
            </a:r>
            <a:r>
              <a:rPr spc="-70" dirty="0"/>
              <a:t>de</a:t>
            </a:r>
            <a:r>
              <a:rPr spc="-290" dirty="0"/>
              <a:t> </a:t>
            </a:r>
            <a:r>
              <a:rPr spc="-135" dirty="0"/>
              <a:t>Control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96290" y="2158745"/>
            <a:ext cx="6417945" cy="2650490"/>
            <a:chOff x="796290" y="2158745"/>
            <a:chExt cx="6417945" cy="2650490"/>
          </a:xfrm>
        </p:grpSpPr>
        <p:sp>
          <p:nvSpPr>
            <p:cNvPr id="4" name="object 4"/>
            <p:cNvSpPr/>
            <p:nvPr/>
          </p:nvSpPr>
          <p:spPr>
            <a:xfrm>
              <a:off x="800100" y="2162555"/>
              <a:ext cx="6410325" cy="2642870"/>
            </a:xfrm>
            <a:custGeom>
              <a:avLst/>
              <a:gdLst/>
              <a:ahLst/>
              <a:cxnLst/>
              <a:rect l="l" t="t" r="r" b="b"/>
              <a:pathLst>
                <a:path w="6410325" h="2642870">
                  <a:moveTo>
                    <a:pt x="6314948" y="0"/>
                  </a:moveTo>
                  <a:lnTo>
                    <a:pt x="95059" y="0"/>
                  </a:lnTo>
                  <a:lnTo>
                    <a:pt x="58057" y="7467"/>
                  </a:lnTo>
                  <a:lnTo>
                    <a:pt x="27841" y="27828"/>
                  </a:lnTo>
                  <a:lnTo>
                    <a:pt x="7469" y="58025"/>
                  </a:lnTo>
                  <a:lnTo>
                    <a:pt x="0" y="94996"/>
                  </a:lnTo>
                  <a:lnTo>
                    <a:pt x="0" y="2547620"/>
                  </a:lnTo>
                  <a:lnTo>
                    <a:pt x="7469" y="2584590"/>
                  </a:lnTo>
                  <a:lnTo>
                    <a:pt x="27841" y="2614787"/>
                  </a:lnTo>
                  <a:lnTo>
                    <a:pt x="58057" y="2635148"/>
                  </a:lnTo>
                  <a:lnTo>
                    <a:pt x="95059" y="2642616"/>
                  </a:lnTo>
                  <a:lnTo>
                    <a:pt x="6314948" y="2642616"/>
                  </a:lnTo>
                  <a:lnTo>
                    <a:pt x="6351918" y="2635148"/>
                  </a:lnTo>
                  <a:lnTo>
                    <a:pt x="6382115" y="2614787"/>
                  </a:lnTo>
                  <a:lnTo>
                    <a:pt x="6402476" y="2584590"/>
                  </a:lnTo>
                  <a:lnTo>
                    <a:pt x="6409944" y="2547620"/>
                  </a:lnTo>
                  <a:lnTo>
                    <a:pt x="6409944" y="94996"/>
                  </a:lnTo>
                  <a:lnTo>
                    <a:pt x="6402476" y="58025"/>
                  </a:lnTo>
                  <a:lnTo>
                    <a:pt x="6382115" y="27828"/>
                  </a:lnTo>
                  <a:lnTo>
                    <a:pt x="6351918" y="7467"/>
                  </a:lnTo>
                  <a:lnTo>
                    <a:pt x="6314948" y="0"/>
                  </a:lnTo>
                  <a:close/>
                </a:path>
              </a:pathLst>
            </a:custGeom>
            <a:solidFill>
              <a:srgbClr val="EB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0100" y="2162555"/>
              <a:ext cx="6410325" cy="2642870"/>
            </a:xfrm>
            <a:custGeom>
              <a:avLst/>
              <a:gdLst/>
              <a:ahLst/>
              <a:cxnLst/>
              <a:rect l="l" t="t" r="r" b="b"/>
              <a:pathLst>
                <a:path w="6410325" h="2642870">
                  <a:moveTo>
                    <a:pt x="0" y="94996"/>
                  </a:moveTo>
                  <a:lnTo>
                    <a:pt x="7469" y="58025"/>
                  </a:lnTo>
                  <a:lnTo>
                    <a:pt x="27841" y="27828"/>
                  </a:lnTo>
                  <a:lnTo>
                    <a:pt x="58057" y="7467"/>
                  </a:lnTo>
                  <a:lnTo>
                    <a:pt x="95059" y="0"/>
                  </a:lnTo>
                  <a:lnTo>
                    <a:pt x="6314948" y="0"/>
                  </a:lnTo>
                  <a:lnTo>
                    <a:pt x="6351918" y="7467"/>
                  </a:lnTo>
                  <a:lnTo>
                    <a:pt x="6382115" y="27828"/>
                  </a:lnTo>
                  <a:lnTo>
                    <a:pt x="6402476" y="58025"/>
                  </a:lnTo>
                  <a:lnTo>
                    <a:pt x="6409944" y="94996"/>
                  </a:lnTo>
                  <a:lnTo>
                    <a:pt x="6409944" y="2547620"/>
                  </a:lnTo>
                  <a:lnTo>
                    <a:pt x="6402476" y="2584590"/>
                  </a:lnTo>
                  <a:lnTo>
                    <a:pt x="6382115" y="2614787"/>
                  </a:lnTo>
                  <a:lnTo>
                    <a:pt x="6351918" y="2635148"/>
                  </a:lnTo>
                  <a:lnTo>
                    <a:pt x="6314948" y="2642616"/>
                  </a:lnTo>
                  <a:lnTo>
                    <a:pt x="95059" y="2642616"/>
                  </a:lnTo>
                  <a:lnTo>
                    <a:pt x="58057" y="2635148"/>
                  </a:lnTo>
                  <a:lnTo>
                    <a:pt x="27841" y="2614787"/>
                  </a:lnTo>
                  <a:lnTo>
                    <a:pt x="7469" y="2584590"/>
                  </a:lnTo>
                  <a:lnTo>
                    <a:pt x="0" y="2547620"/>
                  </a:lnTo>
                  <a:lnTo>
                    <a:pt x="0" y="94996"/>
                  </a:lnTo>
                  <a:close/>
                </a:path>
              </a:pathLst>
            </a:custGeom>
            <a:ln w="7620">
              <a:solidFill>
                <a:srgbClr val="D1C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16152" y="2360993"/>
            <a:ext cx="3284220" cy="19608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65" dirty="0">
                <a:solidFill>
                  <a:srgbClr val="443728"/>
                </a:solidFill>
                <a:latin typeface="Times New Roman"/>
                <a:cs typeface="Times New Roman"/>
              </a:rPr>
              <a:t>if</a:t>
            </a:r>
            <a:r>
              <a:rPr sz="2200" b="1" spc="-125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200" b="1" spc="180" dirty="0">
                <a:solidFill>
                  <a:srgbClr val="443728"/>
                </a:solidFill>
                <a:latin typeface="Times New Roman"/>
                <a:cs typeface="Times New Roman"/>
              </a:rPr>
              <a:t>/</a:t>
            </a:r>
            <a:r>
              <a:rPr sz="2200" b="1" spc="-19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200" b="1" spc="-45" dirty="0">
                <a:solidFill>
                  <a:srgbClr val="443728"/>
                </a:solidFill>
                <a:latin typeface="Times New Roman"/>
                <a:cs typeface="Times New Roman"/>
              </a:rPr>
              <a:t>elif</a:t>
            </a:r>
            <a:r>
              <a:rPr sz="2200" b="1" spc="-12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200" b="1" spc="180" dirty="0">
                <a:solidFill>
                  <a:srgbClr val="443728"/>
                </a:solidFill>
                <a:latin typeface="Times New Roman"/>
                <a:cs typeface="Times New Roman"/>
              </a:rPr>
              <a:t>/</a:t>
            </a:r>
            <a:r>
              <a:rPr sz="2200" b="1" spc="-19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443728"/>
                </a:solidFill>
                <a:latin typeface="Times New Roman"/>
                <a:cs typeface="Times New Roman"/>
              </a:rPr>
              <a:t>else</a:t>
            </a: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95"/>
              </a:spcBef>
              <a:buChar char="•"/>
              <a:tabLst>
                <a:tab pos="355600" algn="l"/>
              </a:tabLst>
            </a:pP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Validar</a:t>
            </a:r>
            <a:r>
              <a:rPr sz="1700" spc="-8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entrada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del</a:t>
            </a:r>
            <a:r>
              <a:rPr sz="1700" spc="-9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usuario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5"/>
              </a:spcBef>
              <a:buChar char="•"/>
              <a:tabLst>
                <a:tab pos="355600" algn="l"/>
              </a:tabLst>
            </a:pP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Verificar</a:t>
            </a:r>
            <a:r>
              <a:rPr sz="1700" spc="-8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letras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correctas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15"/>
              </a:spcBef>
              <a:buChar char="•"/>
              <a:tabLst>
                <a:tab pos="355600" algn="l"/>
              </a:tabLst>
            </a:pP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Controlar</a:t>
            </a:r>
            <a:r>
              <a:rPr sz="1700" spc="-7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5" dirty="0">
                <a:solidFill>
                  <a:srgbClr val="443728"/>
                </a:solidFill>
                <a:latin typeface="Tahoma"/>
                <a:cs typeface="Tahoma"/>
              </a:rPr>
              <a:t>condiciones</a:t>
            </a:r>
            <a:r>
              <a:rPr sz="1700" spc="-4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4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30" dirty="0">
                <a:solidFill>
                  <a:srgbClr val="443728"/>
                </a:solidFill>
                <a:latin typeface="Tahoma"/>
                <a:cs typeface="Tahoma"/>
              </a:rPr>
              <a:t>fin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sz="1700" spc="85" dirty="0">
                <a:solidFill>
                  <a:srgbClr val="443728"/>
                </a:solidFill>
                <a:latin typeface="Tahoma"/>
                <a:cs typeface="Tahoma"/>
              </a:rPr>
              <a:t>Gestionar</a:t>
            </a:r>
            <a:r>
              <a:rPr sz="1700" spc="-7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casos</a:t>
            </a:r>
            <a:r>
              <a:rPr sz="1700" spc="-114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especiales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425690" y="2158745"/>
            <a:ext cx="6417945" cy="2650490"/>
            <a:chOff x="7425690" y="2158745"/>
            <a:chExt cx="6417945" cy="2650490"/>
          </a:xfrm>
        </p:grpSpPr>
        <p:sp>
          <p:nvSpPr>
            <p:cNvPr id="8" name="object 8"/>
            <p:cNvSpPr/>
            <p:nvPr/>
          </p:nvSpPr>
          <p:spPr>
            <a:xfrm>
              <a:off x="7429500" y="2162555"/>
              <a:ext cx="6410325" cy="2642870"/>
            </a:xfrm>
            <a:custGeom>
              <a:avLst/>
              <a:gdLst/>
              <a:ahLst/>
              <a:cxnLst/>
              <a:rect l="l" t="t" r="r" b="b"/>
              <a:pathLst>
                <a:path w="6410325" h="2642870">
                  <a:moveTo>
                    <a:pt x="6314948" y="0"/>
                  </a:moveTo>
                  <a:lnTo>
                    <a:pt x="94996" y="0"/>
                  </a:lnTo>
                  <a:lnTo>
                    <a:pt x="58025" y="7467"/>
                  </a:lnTo>
                  <a:lnTo>
                    <a:pt x="27828" y="27828"/>
                  </a:lnTo>
                  <a:lnTo>
                    <a:pt x="7467" y="58025"/>
                  </a:lnTo>
                  <a:lnTo>
                    <a:pt x="0" y="94996"/>
                  </a:lnTo>
                  <a:lnTo>
                    <a:pt x="0" y="2547620"/>
                  </a:lnTo>
                  <a:lnTo>
                    <a:pt x="7467" y="2584590"/>
                  </a:lnTo>
                  <a:lnTo>
                    <a:pt x="27828" y="2614787"/>
                  </a:lnTo>
                  <a:lnTo>
                    <a:pt x="58025" y="2635148"/>
                  </a:lnTo>
                  <a:lnTo>
                    <a:pt x="94996" y="2642616"/>
                  </a:lnTo>
                  <a:lnTo>
                    <a:pt x="6314948" y="2642616"/>
                  </a:lnTo>
                  <a:lnTo>
                    <a:pt x="6351918" y="2635148"/>
                  </a:lnTo>
                  <a:lnTo>
                    <a:pt x="6382115" y="2614787"/>
                  </a:lnTo>
                  <a:lnTo>
                    <a:pt x="6402476" y="2584590"/>
                  </a:lnTo>
                  <a:lnTo>
                    <a:pt x="6409944" y="2547620"/>
                  </a:lnTo>
                  <a:lnTo>
                    <a:pt x="6409944" y="94996"/>
                  </a:lnTo>
                  <a:lnTo>
                    <a:pt x="6402476" y="58025"/>
                  </a:lnTo>
                  <a:lnTo>
                    <a:pt x="6382115" y="27828"/>
                  </a:lnTo>
                  <a:lnTo>
                    <a:pt x="6351918" y="7467"/>
                  </a:lnTo>
                  <a:lnTo>
                    <a:pt x="6314948" y="0"/>
                  </a:lnTo>
                  <a:close/>
                </a:path>
              </a:pathLst>
            </a:custGeom>
            <a:solidFill>
              <a:srgbClr val="EB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29500" y="2162555"/>
              <a:ext cx="6410325" cy="2642870"/>
            </a:xfrm>
            <a:custGeom>
              <a:avLst/>
              <a:gdLst/>
              <a:ahLst/>
              <a:cxnLst/>
              <a:rect l="l" t="t" r="r" b="b"/>
              <a:pathLst>
                <a:path w="6410325" h="2642870">
                  <a:moveTo>
                    <a:pt x="0" y="94996"/>
                  </a:moveTo>
                  <a:lnTo>
                    <a:pt x="7467" y="58025"/>
                  </a:lnTo>
                  <a:lnTo>
                    <a:pt x="27828" y="27828"/>
                  </a:lnTo>
                  <a:lnTo>
                    <a:pt x="58025" y="7467"/>
                  </a:lnTo>
                  <a:lnTo>
                    <a:pt x="94996" y="0"/>
                  </a:lnTo>
                  <a:lnTo>
                    <a:pt x="6314948" y="0"/>
                  </a:lnTo>
                  <a:lnTo>
                    <a:pt x="6351918" y="7467"/>
                  </a:lnTo>
                  <a:lnTo>
                    <a:pt x="6382115" y="27828"/>
                  </a:lnTo>
                  <a:lnTo>
                    <a:pt x="6402476" y="58025"/>
                  </a:lnTo>
                  <a:lnTo>
                    <a:pt x="6409944" y="94996"/>
                  </a:lnTo>
                  <a:lnTo>
                    <a:pt x="6409944" y="2547620"/>
                  </a:lnTo>
                  <a:lnTo>
                    <a:pt x="6402476" y="2584590"/>
                  </a:lnTo>
                  <a:lnTo>
                    <a:pt x="6382115" y="2614787"/>
                  </a:lnTo>
                  <a:lnTo>
                    <a:pt x="6351918" y="2635148"/>
                  </a:lnTo>
                  <a:lnTo>
                    <a:pt x="6314948" y="2642616"/>
                  </a:lnTo>
                  <a:lnTo>
                    <a:pt x="94996" y="2642616"/>
                  </a:lnTo>
                  <a:lnTo>
                    <a:pt x="58025" y="2635148"/>
                  </a:lnTo>
                  <a:lnTo>
                    <a:pt x="27828" y="2614787"/>
                  </a:lnTo>
                  <a:lnTo>
                    <a:pt x="7467" y="2584590"/>
                  </a:lnTo>
                  <a:lnTo>
                    <a:pt x="0" y="2547620"/>
                  </a:lnTo>
                  <a:lnTo>
                    <a:pt x="0" y="94996"/>
                  </a:lnTo>
                  <a:close/>
                </a:path>
              </a:pathLst>
            </a:custGeom>
            <a:ln w="7620">
              <a:solidFill>
                <a:srgbClr val="D1C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655052" y="2360993"/>
            <a:ext cx="65468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10" dirty="0">
                <a:solidFill>
                  <a:srgbClr val="443728"/>
                </a:solidFill>
                <a:latin typeface="Times New Roman"/>
                <a:cs typeface="Times New Roman"/>
              </a:rPr>
              <a:t>while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55052" y="2822587"/>
            <a:ext cx="3451225" cy="149923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5"/>
              </a:spcBef>
              <a:buChar char="•"/>
              <a:tabLst>
                <a:tab pos="355600" algn="l"/>
              </a:tabLst>
            </a:pP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Bucle</a:t>
            </a:r>
            <a:r>
              <a:rPr sz="1700" spc="-6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principal</a:t>
            </a:r>
            <a:r>
              <a:rPr sz="1700" spc="-3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del</a:t>
            </a:r>
            <a:r>
              <a:rPr sz="1700" spc="-3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45" dirty="0">
                <a:solidFill>
                  <a:srgbClr val="443728"/>
                </a:solidFill>
                <a:latin typeface="Tahoma"/>
                <a:cs typeface="Tahoma"/>
              </a:rPr>
              <a:t>juego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5"/>
              </a:spcBef>
              <a:buChar char="•"/>
              <a:tabLst>
                <a:tab pos="355600" algn="l"/>
              </a:tabLst>
            </a:pP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Repetir</a:t>
            </a:r>
            <a:r>
              <a:rPr sz="1700" spc="-8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0" dirty="0">
                <a:solidFill>
                  <a:srgbClr val="443728"/>
                </a:solidFill>
                <a:latin typeface="Tahoma"/>
                <a:cs typeface="Tahoma"/>
              </a:rPr>
              <a:t>turnos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hasta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30" dirty="0">
                <a:solidFill>
                  <a:srgbClr val="443728"/>
                </a:solidFill>
                <a:latin typeface="Tahoma"/>
                <a:cs typeface="Tahoma"/>
              </a:rPr>
              <a:t>fin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15"/>
              </a:spcBef>
              <a:buChar char="•"/>
              <a:tabLst>
                <a:tab pos="355600" algn="l"/>
              </a:tabLst>
            </a:pP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Solicitar</a:t>
            </a:r>
            <a:r>
              <a:rPr sz="1700" spc="-8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letras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continuamente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Manejar</a:t>
            </a:r>
            <a:r>
              <a:rPr sz="1700" spc="-8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múltiples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partidas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96290" y="5029961"/>
            <a:ext cx="6417945" cy="2211705"/>
            <a:chOff x="796290" y="5029961"/>
            <a:chExt cx="6417945" cy="2211705"/>
          </a:xfrm>
        </p:grpSpPr>
        <p:sp>
          <p:nvSpPr>
            <p:cNvPr id="13" name="object 13"/>
            <p:cNvSpPr/>
            <p:nvPr/>
          </p:nvSpPr>
          <p:spPr>
            <a:xfrm>
              <a:off x="800100" y="5033771"/>
              <a:ext cx="6410325" cy="2204085"/>
            </a:xfrm>
            <a:custGeom>
              <a:avLst/>
              <a:gdLst/>
              <a:ahLst/>
              <a:cxnLst/>
              <a:rect l="l" t="t" r="r" b="b"/>
              <a:pathLst>
                <a:path w="6410325" h="2204084">
                  <a:moveTo>
                    <a:pt x="6314821" y="0"/>
                  </a:moveTo>
                  <a:lnTo>
                    <a:pt x="95135" y="0"/>
                  </a:lnTo>
                  <a:lnTo>
                    <a:pt x="58105" y="7469"/>
                  </a:lnTo>
                  <a:lnTo>
                    <a:pt x="27865" y="27844"/>
                  </a:lnTo>
                  <a:lnTo>
                    <a:pt x="7476" y="58078"/>
                  </a:lnTo>
                  <a:lnTo>
                    <a:pt x="0" y="95122"/>
                  </a:lnTo>
                  <a:lnTo>
                    <a:pt x="0" y="2108568"/>
                  </a:lnTo>
                  <a:lnTo>
                    <a:pt x="7476" y="2145598"/>
                  </a:lnTo>
                  <a:lnTo>
                    <a:pt x="27865" y="2175838"/>
                  </a:lnTo>
                  <a:lnTo>
                    <a:pt x="58105" y="2196227"/>
                  </a:lnTo>
                  <a:lnTo>
                    <a:pt x="95135" y="2203704"/>
                  </a:lnTo>
                  <a:lnTo>
                    <a:pt x="6314821" y="2203704"/>
                  </a:lnTo>
                  <a:lnTo>
                    <a:pt x="6351865" y="2196227"/>
                  </a:lnTo>
                  <a:lnTo>
                    <a:pt x="6382099" y="2175838"/>
                  </a:lnTo>
                  <a:lnTo>
                    <a:pt x="6402474" y="2145598"/>
                  </a:lnTo>
                  <a:lnTo>
                    <a:pt x="6409944" y="2108568"/>
                  </a:lnTo>
                  <a:lnTo>
                    <a:pt x="6409944" y="95122"/>
                  </a:lnTo>
                  <a:lnTo>
                    <a:pt x="6402474" y="58078"/>
                  </a:lnTo>
                  <a:lnTo>
                    <a:pt x="6382099" y="27844"/>
                  </a:lnTo>
                  <a:lnTo>
                    <a:pt x="6351865" y="7469"/>
                  </a:lnTo>
                  <a:lnTo>
                    <a:pt x="6314821" y="0"/>
                  </a:lnTo>
                  <a:close/>
                </a:path>
              </a:pathLst>
            </a:custGeom>
            <a:solidFill>
              <a:srgbClr val="EB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0100" y="5033771"/>
              <a:ext cx="6410325" cy="2204085"/>
            </a:xfrm>
            <a:custGeom>
              <a:avLst/>
              <a:gdLst/>
              <a:ahLst/>
              <a:cxnLst/>
              <a:rect l="l" t="t" r="r" b="b"/>
              <a:pathLst>
                <a:path w="6410325" h="2204084">
                  <a:moveTo>
                    <a:pt x="0" y="95122"/>
                  </a:moveTo>
                  <a:lnTo>
                    <a:pt x="7476" y="58078"/>
                  </a:lnTo>
                  <a:lnTo>
                    <a:pt x="27865" y="27844"/>
                  </a:lnTo>
                  <a:lnTo>
                    <a:pt x="58105" y="7469"/>
                  </a:lnTo>
                  <a:lnTo>
                    <a:pt x="95135" y="0"/>
                  </a:lnTo>
                  <a:lnTo>
                    <a:pt x="6314821" y="0"/>
                  </a:lnTo>
                  <a:lnTo>
                    <a:pt x="6351865" y="7469"/>
                  </a:lnTo>
                  <a:lnTo>
                    <a:pt x="6382099" y="27844"/>
                  </a:lnTo>
                  <a:lnTo>
                    <a:pt x="6402474" y="58078"/>
                  </a:lnTo>
                  <a:lnTo>
                    <a:pt x="6409944" y="95122"/>
                  </a:lnTo>
                  <a:lnTo>
                    <a:pt x="6409944" y="2108568"/>
                  </a:lnTo>
                  <a:lnTo>
                    <a:pt x="6402474" y="2145598"/>
                  </a:lnTo>
                  <a:lnTo>
                    <a:pt x="6382099" y="2175838"/>
                  </a:lnTo>
                  <a:lnTo>
                    <a:pt x="6351865" y="2196227"/>
                  </a:lnTo>
                  <a:lnTo>
                    <a:pt x="6314821" y="2203704"/>
                  </a:lnTo>
                  <a:lnTo>
                    <a:pt x="95135" y="2203704"/>
                  </a:lnTo>
                  <a:lnTo>
                    <a:pt x="58105" y="2196227"/>
                  </a:lnTo>
                  <a:lnTo>
                    <a:pt x="27865" y="2175838"/>
                  </a:lnTo>
                  <a:lnTo>
                    <a:pt x="7476" y="2145598"/>
                  </a:lnTo>
                  <a:lnTo>
                    <a:pt x="0" y="2108568"/>
                  </a:lnTo>
                  <a:lnTo>
                    <a:pt x="0" y="95122"/>
                  </a:lnTo>
                  <a:close/>
                </a:path>
              </a:pathLst>
            </a:custGeom>
            <a:ln w="7620">
              <a:solidFill>
                <a:srgbClr val="D1C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28852" y="5239702"/>
            <a:ext cx="3360420" cy="15951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200" b="1" spc="-25" dirty="0">
                <a:solidFill>
                  <a:srgbClr val="443728"/>
                </a:solidFill>
                <a:latin typeface="Times New Roman"/>
                <a:cs typeface="Times New Roman"/>
              </a:rPr>
              <a:t>for</a:t>
            </a:r>
            <a:endParaRPr sz="2200">
              <a:latin typeface="Times New Roman"/>
              <a:cs typeface="Times New Roman"/>
            </a:endParaRPr>
          </a:p>
          <a:p>
            <a:pPr marL="342900" indent="-342900">
              <a:lnSpc>
                <a:spcPct val="100000"/>
              </a:lnSpc>
              <a:spcBef>
                <a:spcPts val="1795"/>
              </a:spcBef>
              <a:buChar char="•"/>
              <a:tabLst>
                <a:tab pos="342900" algn="l"/>
              </a:tabLst>
            </a:pP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Iterar</a:t>
            </a:r>
            <a:r>
              <a:rPr sz="1700" spc="-3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sobre</a:t>
            </a:r>
            <a:r>
              <a:rPr sz="1700" spc="-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letras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100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palabra</a:t>
            </a:r>
            <a:endParaRPr sz="1700">
              <a:latin typeface="Tahoma"/>
              <a:cs typeface="Tahoma"/>
            </a:endParaRPr>
          </a:p>
          <a:p>
            <a:pPr marL="342900" indent="-342900">
              <a:lnSpc>
                <a:spcPct val="100000"/>
              </a:lnSpc>
              <a:spcBef>
                <a:spcPts val="845"/>
              </a:spcBef>
              <a:buChar char="•"/>
              <a:tabLst>
                <a:tab pos="342900" algn="l"/>
              </a:tabLst>
            </a:pPr>
            <a:r>
              <a:rPr sz="1700" spc="85" dirty="0">
                <a:solidFill>
                  <a:srgbClr val="443728"/>
                </a:solidFill>
                <a:latin typeface="Tahoma"/>
                <a:cs typeface="Tahoma"/>
              </a:rPr>
              <a:t>Construir</a:t>
            </a:r>
            <a:r>
              <a:rPr sz="1700" spc="-8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estado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45" dirty="0">
                <a:solidFill>
                  <a:srgbClr val="443728"/>
                </a:solidFill>
                <a:latin typeface="Tahoma"/>
                <a:cs typeface="Tahoma"/>
              </a:rPr>
              <a:t>visible</a:t>
            </a:r>
            <a:endParaRPr sz="1700">
              <a:latin typeface="Tahoma"/>
              <a:cs typeface="Tahoma"/>
            </a:endParaRPr>
          </a:p>
          <a:p>
            <a:pPr marL="342900" indent="-342900">
              <a:lnSpc>
                <a:spcPct val="100000"/>
              </a:lnSpc>
              <a:spcBef>
                <a:spcPts val="915"/>
              </a:spcBef>
              <a:buChar char="•"/>
              <a:tabLst>
                <a:tab pos="342900" algn="l"/>
              </a:tabLst>
            </a:pP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Recorrer</a:t>
            </a:r>
            <a:r>
              <a:rPr sz="1700" spc="-8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listas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datos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425690" y="5029961"/>
            <a:ext cx="6417945" cy="2211705"/>
            <a:chOff x="7425690" y="5029961"/>
            <a:chExt cx="6417945" cy="2211705"/>
          </a:xfrm>
        </p:grpSpPr>
        <p:sp>
          <p:nvSpPr>
            <p:cNvPr id="17" name="object 17"/>
            <p:cNvSpPr/>
            <p:nvPr/>
          </p:nvSpPr>
          <p:spPr>
            <a:xfrm>
              <a:off x="7429500" y="5033771"/>
              <a:ext cx="6410325" cy="2204085"/>
            </a:xfrm>
            <a:custGeom>
              <a:avLst/>
              <a:gdLst/>
              <a:ahLst/>
              <a:cxnLst/>
              <a:rect l="l" t="t" r="r" b="b"/>
              <a:pathLst>
                <a:path w="6410325" h="2204084">
                  <a:moveTo>
                    <a:pt x="6314821" y="0"/>
                  </a:moveTo>
                  <a:lnTo>
                    <a:pt x="95123" y="0"/>
                  </a:lnTo>
                  <a:lnTo>
                    <a:pt x="58078" y="7469"/>
                  </a:lnTo>
                  <a:lnTo>
                    <a:pt x="27844" y="27844"/>
                  </a:lnTo>
                  <a:lnTo>
                    <a:pt x="7469" y="58078"/>
                  </a:lnTo>
                  <a:lnTo>
                    <a:pt x="0" y="95122"/>
                  </a:lnTo>
                  <a:lnTo>
                    <a:pt x="0" y="2108568"/>
                  </a:lnTo>
                  <a:lnTo>
                    <a:pt x="7469" y="2145598"/>
                  </a:lnTo>
                  <a:lnTo>
                    <a:pt x="27844" y="2175838"/>
                  </a:lnTo>
                  <a:lnTo>
                    <a:pt x="58078" y="2196227"/>
                  </a:lnTo>
                  <a:lnTo>
                    <a:pt x="95123" y="2203704"/>
                  </a:lnTo>
                  <a:lnTo>
                    <a:pt x="6314821" y="2203704"/>
                  </a:lnTo>
                  <a:lnTo>
                    <a:pt x="6351865" y="2196227"/>
                  </a:lnTo>
                  <a:lnTo>
                    <a:pt x="6382099" y="2175838"/>
                  </a:lnTo>
                  <a:lnTo>
                    <a:pt x="6402474" y="2145598"/>
                  </a:lnTo>
                  <a:lnTo>
                    <a:pt x="6409944" y="2108568"/>
                  </a:lnTo>
                  <a:lnTo>
                    <a:pt x="6409944" y="95122"/>
                  </a:lnTo>
                  <a:lnTo>
                    <a:pt x="6402474" y="58078"/>
                  </a:lnTo>
                  <a:lnTo>
                    <a:pt x="6382099" y="27844"/>
                  </a:lnTo>
                  <a:lnTo>
                    <a:pt x="6351865" y="7469"/>
                  </a:lnTo>
                  <a:lnTo>
                    <a:pt x="6314821" y="0"/>
                  </a:lnTo>
                  <a:close/>
                </a:path>
              </a:pathLst>
            </a:custGeom>
            <a:solidFill>
              <a:srgbClr val="EB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29500" y="5033771"/>
              <a:ext cx="6410325" cy="2204085"/>
            </a:xfrm>
            <a:custGeom>
              <a:avLst/>
              <a:gdLst/>
              <a:ahLst/>
              <a:cxnLst/>
              <a:rect l="l" t="t" r="r" b="b"/>
              <a:pathLst>
                <a:path w="6410325" h="2204084">
                  <a:moveTo>
                    <a:pt x="0" y="95122"/>
                  </a:moveTo>
                  <a:lnTo>
                    <a:pt x="7469" y="58078"/>
                  </a:lnTo>
                  <a:lnTo>
                    <a:pt x="27844" y="27844"/>
                  </a:lnTo>
                  <a:lnTo>
                    <a:pt x="58078" y="7469"/>
                  </a:lnTo>
                  <a:lnTo>
                    <a:pt x="95123" y="0"/>
                  </a:lnTo>
                  <a:lnTo>
                    <a:pt x="6314821" y="0"/>
                  </a:lnTo>
                  <a:lnTo>
                    <a:pt x="6351865" y="7469"/>
                  </a:lnTo>
                  <a:lnTo>
                    <a:pt x="6382099" y="27844"/>
                  </a:lnTo>
                  <a:lnTo>
                    <a:pt x="6402474" y="58078"/>
                  </a:lnTo>
                  <a:lnTo>
                    <a:pt x="6409944" y="95122"/>
                  </a:lnTo>
                  <a:lnTo>
                    <a:pt x="6409944" y="2108568"/>
                  </a:lnTo>
                  <a:lnTo>
                    <a:pt x="6402474" y="2145598"/>
                  </a:lnTo>
                  <a:lnTo>
                    <a:pt x="6382099" y="2175838"/>
                  </a:lnTo>
                  <a:lnTo>
                    <a:pt x="6351865" y="2196227"/>
                  </a:lnTo>
                  <a:lnTo>
                    <a:pt x="6314821" y="2203704"/>
                  </a:lnTo>
                  <a:lnTo>
                    <a:pt x="95123" y="2203704"/>
                  </a:lnTo>
                  <a:lnTo>
                    <a:pt x="58078" y="2196227"/>
                  </a:lnTo>
                  <a:lnTo>
                    <a:pt x="27844" y="2175838"/>
                  </a:lnTo>
                  <a:lnTo>
                    <a:pt x="7469" y="2145598"/>
                  </a:lnTo>
                  <a:lnTo>
                    <a:pt x="0" y="2108568"/>
                  </a:lnTo>
                  <a:lnTo>
                    <a:pt x="0" y="95122"/>
                  </a:lnTo>
                  <a:close/>
                </a:path>
              </a:pathLst>
            </a:custGeom>
            <a:ln w="7620">
              <a:solidFill>
                <a:srgbClr val="D1C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655052" y="5239702"/>
            <a:ext cx="92265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65" dirty="0">
                <a:solidFill>
                  <a:srgbClr val="443728"/>
                </a:solidFill>
                <a:latin typeface="Times New Roman"/>
                <a:cs typeface="Times New Roman"/>
              </a:rPr>
              <a:t>random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55052" y="5701550"/>
            <a:ext cx="3569335" cy="113347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5"/>
              </a:spcBef>
              <a:buChar char="•"/>
              <a:tabLst>
                <a:tab pos="355600" algn="l"/>
              </a:tabLst>
            </a:pP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Seleccionar</a:t>
            </a:r>
            <a:r>
              <a:rPr sz="1700" spc="1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palabras</a:t>
            </a:r>
            <a:r>
              <a:rPr sz="1700" spc="-11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aleatorias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Variedad</a:t>
            </a:r>
            <a:r>
              <a:rPr sz="1700" spc="-7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en</a:t>
            </a:r>
            <a:r>
              <a:rPr sz="1700" spc="-7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cada</a:t>
            </a:r>
            <a:r>
              <a:rPr sz="1700" spc="-4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partida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20"/>
              </a:spcBef>
              <a:buChar char="•"/>
              <a:tabLst>
                <a:tab pos="355600" algn="l"/>
              </a:tabLst>
            </a:pP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Función</a:t>
            </a:r>
            <a:r>
              <a:rPr sz="1700" spc="-3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choice()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0" dirty="0">
                <a:solidFill>
                  <a:srgbClr val="443728"/>
                </a:solidFill>
                <a:latin typeface="Tahoma"/>
                <a:cs typeface="Tahoma"/>
              </a:rPr>
              <a:t>del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105" dirty="0">
                <a:solidFill>
                  <a:srgbClr val="443728"/>
                </a:solidFill>
                <a:latin typeface="Tahoma"/>
                <a:cs typeface="Tahoma"/>
              </a:rPr>
              <a:t>módulo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486400" cy="7774305"/>
            <a:chOff x="0" y="0"/>
            <a:chExt cx="5486400" cy="7774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486399" cy="77740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4320" y="2468879"/>
              <a:ext cx="4937760" cy="329184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50685" y="564006"/>
            <a:ext cx="5525135" cy="1370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300" spc="-135" dirty="0"/>
              <a:t>Integración</a:t>
            </a:r>
            <a:r>
              <a:rPr sz="4300" spc="-260" dirty="0"/>
              <a:t> </a:t>
            </a:r>
            <a:r>
              <a:rPr sz="4300" spc="-100" dirty="0"/>
              <a:t>de</a:t>
            </a:r>
            <a:r>
              <a:rPr sz="4300" spc="-195" dirty="0"/>
              <a:t> </a:t>
            </a:r>
            <a:r>
              <a:rPr sz="4300" spc="-70" dirty="0"/>
              <a:t>las</a:t>
            </a:r>
            <a:r>
              <a:rPr sz="4300" spc="-285" dirty="0"/>
              <a:t> </a:t>
            </a:r>
            <a:r>
              <a:rPr sz="4300" spc="-170" dirty="0"/>
              <a:t>Cuatro</a:t>
            </a:r>
            <a:endParaRPr sz="4300"/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4300" spc="-10" dirty="0"/>
              <a:t>Unidades</a:t>
            </a:r>
            <a:endParaRPr sz="430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63640" y="2313432"/>
            <a:ext cx="1097280" cy="53035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571105" y="2508567"/>
            <a:ext cx="4109085" cy="47986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spc="-90" dirty="0">
                <a:solidFill>
                  <a:srgbClr val="443728"/>
                </a:solidFill>
                <a:latin typeface="Times New Roman"/>
                <a:cs typeface="Times New Roman"/>
              </a:rPr>
              <a:t>Unidad</a:t>
            </a:r>
            <a:r>
              <a:rPr sz="2150" b="1" spc="-15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150" b="1" spc="-295" dirty="0">
                <a:solidFill>
                  <a:srgbClr val="443728"/>
                </a:solidFill>
                <a:latin typeface="Times New Roman"/>
                <a:cs typeface="Times New Roman"/>
              </a:rPr>
              <a:t>1:</a:t>
            </a:r>
            <a:r>
              <a:rPr sz="2150" b="1" spc="-8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150" b="1" spc="-65" dirty="0">
                <a:solidFill>
                  <a:srgbClr val="443728"/>
                </a:solidFill>
                <a:latin typeface="Times New Roman"/>
                <a:cs typeface="Times New Roman"/>
              </a:rPr>
              <a:t>Conceptos</a:t>
            </a:r>
            <a:r>
              <a:rPr sz="2150" b="1" spc="-7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150" b="1" spc="-10" dirty="0">
                <a:solidFill>
                  <a:srgbClr val="443728"/>
                </a:solidFill>
                <a:latin typeface="Times New Roman"/>
                <a:cs typeface="Times New Roman"/>
              </a:rPr>
              <a:t>Básicos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700" spc="20" dirty="0">
                <a:solidFill>
                  <a:srgbClr val="443728"/>
                </a:solidFill>
                <a:latin typeface="Tahoma"/>
                <a:cs typeface="Tahoma"/>
              </a:rPr>
              <a:t>Variables,</a:t>
            </a:r>
            <a:r>
              <a:rPr sz="1700" spc="4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20" dirty="0">
                <a:solidFill>
                  <a:srgbClr val="443728"/>
                </a:solidFill>
                <a:latin typeface="Tahoma"/>
                <a:cs typeface="Tahoma"/>
              </a:rPr>
              <a:t>entrada/salida,</a:t>
            </a:r>
            <a:r>
              <a:rPr sz="1700" spc="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20" dirty="0">
                <a:solidFill>
                  <a:srgbClr val="443728"/>
                </a:solidFill>
                <a:latin typeface="Tahoma"/>
                <a:cs typeface="Tahoma"/>
              </a:rPr>
              <a:t>tipos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datos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150" b="1" spc="-90" dirty="0">
                <a:solidFill>
                  <a:srgbClr val="443728"/>
                </a:solidFill>
                <a:latin typeface="Times New Roman"/>
                <a:cs typeface="Times New Roman"/>
              </a:rPr>
              <a:t>Unidad</a:t>
            </a:r>
            <a:r>
              <a:rPr sz="2150" b="1" spc="-135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150" b="1" spc="-120" dirty="0">
                <a:solidFill>
                  <a:srgbClr val="443728"/>
                </a:solidFill>
                <a:latin typeface="Times New Roman"/>
                <a:cs typeface="Times New Roman"/>
              </a:rPr>
              <a:t>2:</a:t>
            </a:r>
            <a:r>
              <a:rPr sz="2150" b="1" spc="-135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150" b="1" spc="-95" dirty="0">
                <a:solidFill>
                  <a:srgbClr val="443728"/>
                </a:solidFill>
                <a:latin typeface="Times New Roman"/>
                <a:cs typeface="Times New Roman"/>
              </a:rPr>
              <a:t>Estructuras</a:t>
            </a:r>
            <a:r>
              <a:rPr sz="2150" b="1" spc="-125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150" b="1" spc="-35" dirty="0">
                <a:solidFill>
                  <a:srgbClr val="443728"/>
                </a:solidFill>
                <a:latin typeface="Times New Roman"/>
                <a:cs typeface="Times New Roman"/>
              </a:rPr>
              <a:t>de</a:t>
            </a:r>
            <a:r>
              <a:rPr sz="2150" b="1" spc="-85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150" b="1" spc="-10" dirty="0">
                <a:solidFill>
                  <a:srgbClr val="443728"/>
                </a:solidFill>
                <a:latin typeface="Times New Roman"/>
                <a:cs typeface="Times New Roman"/>
              </a:rPr>
              <a:t>Control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if,</a:t>
            </a:r>
            <a:r>
              <a:rPr sz="1700" spc="1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while,</a:t>
            </a:r>
            <a:r>
              <a:rPr sz="1700" spc="-7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for,</a:t>
            </a:r>
            <a:r>
              <a:rPr sz="1700" spc="2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lógica</a:t>
            </a: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45" dirty="0">
                <a:solidFill>
                  <a:srgbClr val="443728"/>
                </a:solidFill>
                <a:latin typeface="Tahoma"/>
                <a:cs typeface="Tahoma"/>
              </a:rPr>
              <a:t>condicional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150" b="1" spc="-90" dirty="0">
                <a:solidFill>
                  <a:srgbClr val="443728"/>
                </a:solidFill>
                <a:latin typeface="Times New Roman"/>
                <a:cs typeface="Times New Roman"/>
              </a:rPr>
              <a:t>Unidad</a:t>
            </a:r>
            <a:r>
              <a:rPr sz="2150" b="1" spc="-14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150" b="1" spc="-120" dirty="0">
                <a:solidFill>
                  <a:srgbClr val="443728"/>
                </a:solidFill>
                <a:latin typeface="Times New Roman"/>
                <a:cs typeface="Times New Roman"/>
              </a:rPr>
              <a:t>3:</a:t>
            </a:r>
            <a:r>
              <a:rPr sz="2150" b="1" spc="-135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150" b="1" spc="-10" dirty="0">
                <a:solidFill>
                  <a:srgbClr val="443728"/>
                </a:solidFill>
                <a:latin typeface="Times New Roman"/>
                <a:cs typeface="Times New Roman"/>
              </a:rPr>
              <a:t>Funciones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Modularización,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45" dirty="0">
                <a:solidFill>
                  <a:srgbClr val="443728"/>
                </a:solidFill>
                <a:latin typeface="Tahoma"/>
                <a:cs typeface="Tahoma"/>
              </a:rPr>
              <a:t>parámetros,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retorno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150" b="1" spc="-90" dirty="0">
                <a:solidFill>
                  <a:srgbClr val="443728"/>
                </a:solidFill>
                <a:latin typeface="Times New Roman"/>
                <a:cs typeface="Times New Roman"/>
              </a:rPr>
              <a:t>Unidad</a:t>
            </a:r>
            <a:r>
              <a:rPr sz="2150" b="1" spc="-135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150" b="1" spc="-85" dirty="0">
                <a:solidFill>
                  <a:srgbClr val="443728"/>
                </a:solidFill>
                <a:latin typeface="Times New Roman"/>
                <a:cs typeface="Times New Roman"/>
              </a:rPr>
              <a:t>4:</a:t>
            </a:r>
            <a:r>
              <a:rPr sz="2150" b="1" spc="-13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150" b="1" spc="-95" dirty="0">
                <a:solidFill>
                  <a:srgbClr val="443728"/>
                </a:solidFill>
                <a:latin typeface="Times New Roman"/>
                <a:cs typeface="Times New Roman"/>
              </a:rPr>
              <a:t>Estructuras</a:t>
            </a:r>
            <a:r>
              <a:rPr sz="2150" b="1" spc="-13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150" b="1" spc="-35" dirty="0">
                <a:solidFill>
                  <a:srgbClr val="443728"/>
                </a:solidFill>
                <a:latin typeface="Times New Roman"/>
                <a:cs typeface="Times New Roman"/>
              </a:rPr>
              <a:t>de</a:t>
            </a:r>
            <a:r>
              <a:rPr sz="2150" b="1" spc="-8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150" b="1" spc="-10" dirty="0">
                <a:solidFill>
                  <a:srgbClr val="443728"/>
                </a:solidFill>
                <a:latin typeface="Times New Roman"/>
                <a:cs typeface="Times New Roman"/>
              </a:rPr>
              <a:t>Datos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700" spc="20" dirty="0">
                <a:solidFill>
                  <a:srgbClr val="443728"/>
                </a:solidFill>
                <a:latin typeface="Tahoma"/>
                <a:cs typeface="Tahoma"/>
              </a:rPr>
              <a:t>Listas,</a:t>
            </a:r>
            <a:r>
              <a:rPr sz="1700" spc="2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20" dirty="0">
                <a:solidFill>
                  <a:srgbClr val="443728"/>
                </a:solidFill>
                <a:latin typeface="Tahoma"/>
                <a:cs typeface="Tahoma"/>
              </a:rPr>
              <a:t>diccionarios,</a:t>
            </a:r>
            <a:r>
              <a:rPr sz="1700" spc="3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20" dirty="0">
                <a:solidFill>
                  <a:srgbClr val="443728"/>
                </a:solidFill>
                <a:latin typeface="Tahoma"/>
                <a:cs typeface="Tahoma"/>
              </a:rPr>
              <a:t>tuplas,</a:t>
            </a:r>
            <a:r>
              <a:rPr sz="1700" spc="2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manipulación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570" y="1957704"/>
            <a:ext cx="3055620" cy="706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95" dirty="0"/>
              <a:t>Conclusiones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4859" y="3153155"/>
            <a:ext cx="4227830" cy="3093720"/>
            <a:chOff x="784859" y="3153155"/>
            <a:chExt cx="4227830" cy="3093720"/>
          </a:xfrm>
        </p:grpSpPr>
        <p:sp>
          <p:nvSpPr>
            <p:cNvPr id="4" name="object 4"/>
            <p:cNvSpPr/>
            <p:nvPr/>
          </p:nvSpPr>
          <p:spPr>
            <a:xfrm>
              <a:off x="800099" y="3168395"/>
              <a:ext cx="4197350" cy="3063240"/>
            </a:xfrm>
            <a:custGeom>
              <a:avLst/>
              <a:gdLst/>
              <a:ahLst/>
              <a:cxnLst/>
              <a:rect l="l" t="t" r="r" b="b"/>
              <a:pathLst>
                <a:path w="4197350" h="3063240">
                  <a:moveTo>
                    <a:pt x="4101591" y="0"/>
                  </a:moveTo>
                  <a:lnTo>
                    <a:pt x="95453" y="0"/>
                  </a:lnTo>
                  <a:lnTo>
                    <a:pt x="58298" y="7492"/>
                  </a:lnTo>
                  <a:lnTo>
                    <a:pt x="27957" y="27939"/>
                  </a:lnTo>
                  <a:lnTo>
                    <a:pt x="7501" y="58292"/>
                  </a:lnTo>
                  <a:lnTo>
                    <a:pt x="0" y="95503"/>
                  </a:lnTo>
                  <a:lnTo>
                    <a:pt x="0" y="2967735"/>
                  </a:lnTo>
                  <a:lnTo>
                    <a:pt x="7501" y="3004946"/>
                  </a:lnTo>
                  <a:lnTo>
                    <a:pt x="27957" y="3035299"/>
                  </a:lnTo>
                  <a:lnTo>
                    <a:pt x="58298" y="3055747"/>
                  </a:lnTo>
                  <a:lnTo>
                    <a:pt x="95453" y="3063240"/>
                  </a:lnTo>
                  <a:lnTo>
                    <a:pt x="4101591" y="3063240"/>
                  </a:lnTo>
                  <a:lnTo>
                    <a:pt x="4138803" y="3055747"/>
                  </a:lnTo>
                  <a:lnTo>
                    <a:pt x="4169156" y="3035300"/>
                  </a:lnTo>
                  <a:lnTo>
                    <a:pt x="4189603" y="3004947"/>
                  </a:lnTo>
                  <a:lnTo>
                    <a:pt x="4197096" y="2967735"/>
                  </a:lnTo>
                  <a:lnTo>
                    <a:pt x="4197096" y="95503"/>
                  </a:lnTo>
                  <a:lnTo>
                    <a:pt x="4189603" y="58292"/>
                  </a:lnTo>
                  <a:lnTo>
                    <a:pt x="4169155" y="27939"/>
                  </a:lnTo>
                  <a:lnTo>
                    <a:pt x="4138803" y="7492"/>
                  </a:lnTo>
                  <a:lnTo>
                    <a:pt x="4101591" y="0"/>
                  </a:lnTo>
                  <a:close/>
                </a:path>
              </a:pathLst>
            </a:custGeom>
            <a:solidFill>
              <a:srgbClr val="FFFB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0099" y="3168395"/>
              <a:ext cx="4197350" cy="3063240"/>
            </a:xfrm>
            <a:custGeom>
              <a:avLst/>
              <a:gdLst/>
              <a:ahLst/>
              <a:cxnLst/>
              <a:rect l="l" t="t" r="r" b="b"/>
              <a:pathLst>
                <a:path w="4197350" h="3063240">
                  <a:moveTo>
                    <a:pt x="0" y="95503"/>
                  </a:moveTo>
                  <a:lnTo>
                    <a:pt x="7501" y="58292"/>
                  </a:lnTo>
                  <a:lnTo>
                    <a:pt x="27957" y="27939"/>
                  </a:lnTo>
                  <a:lnTo>
                    <a:pt x="58298" y="7492"/>
                  </a:lnTo>
                  <a:lnTo>
                    <a:pt x="95453" y="0"/>
                  </a:lnTo>
                  <a:lnTo>
                    <a:pt x="4101591" y="0"/>
                  </a:lnTo>
                  <a:lnTo>
                    <a:pt x="4138803" y="7492"/>
                  </a:lnTo>
                  <a:lnTo>
                    <a:pt x="4169155" y="27939"/>
                  </a:lnTo>
                  <a:lnTo>
                    <a:pt x="4189603" y="58292"/>
                  </a:lnTo>
                  <a:lnTo>
                    <a:pt x="4197096" y="95503"/>
                  </a:lnTo>
                  <a:lnTo>
                    <a:pt x="4197096" y="2967735"/>
                  </a:lnTo>
                  <a:lnTo>
                    <a:pt x="4189603" y="3004947"/>
                  </a:lnTo>
                  <a:lnTo>
                    <a:pt x="4169156" y="3035300"/>
                  </a:lnTo>
                  <a:lnTo>
                    <a:pt x="4138803" y="3055747"/>
                  </a:lnTo>
                  <a:lnTo>
                    <a:pt x="4101591" y="3063240"/>
                  </a:lnTo>
                  <a:lnTo>
                    <a:pt x="95453" y="3063240"/>
                  </a:lnTo>
                  <a:lnTo>
                    <a:pt x="58298" y="3055747"/>
                  </a:lnTo>
                  <a:lnTo>
                    <a:pt x="27957" y="3035299"/>
                  </a:lnTo>
                  <a:lnTo>
                    <a:pt x="7501" y="3004946"/>
                  </a:lnTo>
                  <a:lnTo>
                    <a:pt x="0" y="2967735"/>
                  </a:lnTo>
                  <a:lnTo>
                    <a:pt x="0" y="95503"/>
                  </a:lnTo>
                  <a:close/>
                </a:path>
              </a:pathLst>
            </a:custGeom>
            <a:ln w="30480">
              <a:solidFill>
                <a:srgbClr val="D1C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51877" y="3397440"/>
            <a:ext cx="220154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200" b="1" spc="-114" dirty="0">
                <a:solidFill>
                  <a:srgbClr val="443728"/>
                </a:solidFill>
                <a:latin typeface="Times New Roman"/>
                <a:cs typeface="Times New Roman"/>
              </a:rPr>
              <a:t>Logros</a:t>
            </a:r>
            <a:r>
              <a:rPr sz="2200" b="1" spc="-11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200" b="1" spc="-35" dirty="0">
                <a:solidFill>
                  <a:srgbClr val="443728"/>
                </a:solidFill>
                <a:latin typeface="Times New Roman"/>
                <a:cs typeface="Times New Roman"/>
              </a:rPr>
              <a:t>del</a:t>
            </a:r>
            <a:r>
              <a:rPr sz="2200" b="1" spc="-18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200" b="1" spc="-65" dirty="0">
                <a:solidFill>
                  <a:srgbClr val="443728"/>
                </a:solidFill>
                <a:latin typeface="Times New Roman"/>
                <a:cs typeface="Times New Roman"/>
              </a:rPr>
              <a:t>Proyecto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1877" y="3859034"/>
            <a:ext cx="3446779" cy="186563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935"/>
              </a:spcBef>
              <a:buChar char="•"/>
              <a:tabLst>
                <a:tab pos="342900" algn="l"/>
              </a:tabLst>
            </a:pP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Aplicación</a:t>
            </a:r>
            <a:r>
              <a:rPr sz="1700" spc="-8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funcional</a:t>
            </a:r>
            <a:r>
              <a:rPr sz="1700" spc="-3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completa</a:t>
            </a:r>
            <a:endParaRPr sz="1700">
              <a:latin typeface="Tahoma"/>
              <a:cs typeface="Tahoma"/>
            </a:endParaRPr>
          </a:p>
          <a:p>
            <a:pPr marL="342900" indent="-342900">
              <a:lnSpc>
                <a:spcPct val="100000"/>
              </a:lnSpc>
              <a:spcBef>
                <a:spcPts val="845"/>
              </a:spcBef>
              <a:buChar char="•"/>
              <a:tabLst>
                <a:tab pos="342900" algn="l"/>
              </a:tabLst>
            </a:pPr>
            <a:r>
              <a:rPr sz="1700" spc="50" dirty="0">
                <a:solidFill>
                  <a:srgbClr val="443728"/>
                </a:solidFill>
                <a:latin typeface="Tahoma"/>
                <a:cs typeface="Tahoma"/>
              </a:rPr>
              <a:t>Integración</a:t>
            </a:r>
            <a:r>
              <a:rPr sz="1700" spc="-7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exitosa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35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endParaRPr sz="1700">
              <a:latin typeface="Tahoma"/>
              <a:cs typeface="Tahoma"/>
            </a:endParaRPr>
          </a:p>
          <a:p>
            <a:pPr marL="342900">
              <a:lnSpc>
                <a:spcPct val="100000"/>
              </a:lnSpc>
              <a:spcBef>
                <a:spcPts val="915"/>
              </a:spcBef>
            </a:pP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conceptos</a:t>
            </a:r>
            <a:endParaRPr sz="1700">
              <a:latin typeface="Tahoma"/>
              <a:cs typeface="Tahoma"/>
            </a:endParaRPr>
          </a:p>
          <a:p>
            <a:pPr marL="3429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42900" algn="l"/>
              </a:tabLst>
            </a:pP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Manejo</a:t>
            </a:r>
            <a:r>
              <a:rPr sz="1700" spc="-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efectivo</a:t>
            </a:r>
            <a:r>
              <a:rPr sz="1700" spc="-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datos</a:t>
            </a:r>
            <a:endParaRPr sz="1700">
              <a:latin typeface="Tahoma"/>
              <a:cs typeface="Tahoma"/>
            </a:endParaRPr>
          </a:p>
          <a:p>
            <a:pPr marL="342900" indent="-342900">
              <a:lnSpc>
                <a:spcPct val="100000"/>
              </a:lnSpc>
              <a:spcBef>
                <a:spcPts val="844"/>
              </a:spcBef>
              <a:buChar char="•"/>
              <a:tabLst>
                <a:tab pos="342900" algn="l"/>
              </a:tabLst>
            </a:pPr>
            <a:r>
              <a:rPr sz="1700" spc="85" dirty="0">
                <a:solidFill>
                  <a:srgbClr val="443728"/>
                </a:solidFill>
                <a:latin typeface="Tahoma"/>
                <a:cs typeface="Tahoma"/>
              </a:rPr>
              <a:t>Control</a:t>
            </a:r>
            <a:r>
              <a:rPr sz="1700" spc="-10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0" dirty="0">
                <a:solidFill>
                  <a:srgbClr val="443728"/>
                </a:solidFill>
                <a:latin typeface="Tahoma"/>
                <a:cs typeface="Tahoma"/>
              </a:rPr>
              <a:t>flujo</a:t>
            </a:r>
            <a:r>
              <a:rPr sz="1700" spc="-6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adecuado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10555" y="3153155"/>
            <a:ext cx="4218940" cy="3093720"/>
            <a:chOff x="5210555" y="3153155"/>
            <a:chExt cx="4218940" cy="3093720"/>
          </a:xfrm>
        </p:grpSpPr>
        <p:sp>
          <p:nvSpPr>
            <p:cNvPr id="9" name="object 9"/>
            <p:cNvSpPr/>
            <p:nvPr/>
          </p:nvSpPr>
          <p:spPr>
            <a:xfrm>
              <a:off x="5225795" y="3168395"/>
              <a:ext cx="4188460" cy="3063240"/>
            </a:xfrm>
            <a:custGeom>
              <a:avLst/>
              <a:gdLst/>
              <a:ahLst/>
              <a:cxnLst/>
              <a:rect l="l" t="t" r="r" b="b"/>
              <a:pathLst>
                <a:path w="4188459" h="3063240">
                  <a:moveTo>
                    <a:pt x="4092448" y="0"/>
                  </a:moveTo>
                  <a:lnTo>
                    <a:pt x="95503" y="0"/>
                  </a:lnTo>
                  <a:lnTo>
                    <a:pt x="58346" y="7492"/>
                  </a:lnTo>
                  <a:lnTo>
                    <a:pt x="27987" y="27939"/>
                  </a:lnTo>
                  <a:lnTo>
                    <a:pt x="7510" y="58292"/>
                  </a:lnTo>
                  <a:lnTo>
                    <a:pt x="0" y="95503"/>
                  </a:lnTo>
                  <a:lnTo>
                    <a:pt x="0" y="2967735"/>
                  </a:lnTo>
                  <a:lnTo>
                    <a:pt x="7510" y="3004893"/>
                  </a:lnTo>
                  <a:lnTo>
                    <a:pt x="27987" y="3035252"/>
                  </a:lnTo>
                  <a:lnTo>
                    <a:pt x="58346" y="3055729"/>
                  </a:lnTo>
                  <a:lnTo>
                    <a:pt x="95503" y="3063240"/>
                  </a:lnTo>
                  <a:lnTo>
                    <a:pt x="4092448" y="3063240"/>
                  </a:lnTo>
                  <a:lnTo>
                    <a:pt x="4129658" y="3055729"/>
                  </a:lnTo>
                  <a:lnTo>
                    <a:pt x="4160011" y="3035252"/>
                  </a:lnTo>
                  <a:lnTo>
                    <a:pt x="4180458" y="3004893"/>
                  </a:lnTo>
                  <a:lnTo>
                    <a:pt x="4187952" y="2967735"/>
                  </a:lnTo>
                  <a:lnTo>
                    <a:pt x="4187952" y="95503"/>
                  </a:lnTo>
                  <a:lnTo>
                    <a:pt x="4180458" y="58292"/>
                  </a:lnTo>
                  <a:lnTo>
                    <a:pt x="4160011" y="27939"/>
                  </a:lnTo>
                  <a:lnTo>
                    <a:pt x="4129658" y="7492"/>
                  </a:lnTo>
                  <a:lnTo>
                    <a:pt x="4092448" y="0"/>
                  </a:lnTo>
                  <a:close/>
                </a:path>
              </a:pathLst>
            </a:custGeom>
            <a:solidFill>
              <a:srgbClr val="FFFB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25795" y="3168395"/>
              <a:ext cx="4188460" cy="3063240"/>
            </a:xfrm>
            <a:custGeom>
              <a:avLst/>
              <a:gdLst/>
              <a:ahLst/>
              <a:cxnLst/>
              <a:rect l="l" t="t" r="r" b="b"/>
              <a:pathLst>
                <a:path w="4188459" h="3063240">
                  <a:moveTo>
                    <a:pt x="0" y="95503"/>
                  </a:moveTo>
                  <a:lnTo>
                    <a:pt x="7510" y="58292"/>
                  </a:lnTo>
                  <a:lnTo>
                    <a:pt x="27987" y="27939"/>
                  </a:lnTo>
                  <a:lnTo>
                    <a:pt x="58346" y="7492"/>
                  </a:lnTo>
                  <a:lnTo>
                    <a:pt x="95503" y="0"/>
                  </a:lnTo>
                  <a:lnTo>
                    <a:pt x="4092448" y="0"/>
                  </a:lnTo>
                  <a:lnTo>
                    <a:pt x="4129658" y="7492"/>
                  </a:lnTo>
                  <a:lnTo>
                    <a:pt x="4160011" y="27939"/>
                  </a:lnTo>
                  <a:lnTo>
                    <a:pt x="4180458" y="58292"/>
                  </a:lnTo>
                  <a:lnTo>
                    <a:pt x="4187952" y="95503"/>
                  </a:lnTo>
                  <a:lnTo>
                    <a:pt x="4187952" y="2967735"/>
                  </a:lnTo>
                  <a:lnTo>
                    <a:pt x="4180458" y="3004893"/>
                  </a:lnTo>
                  <a:lnTo>
                    <a:pt x="4160011" y="3035252"/>
                  </a:lnTo>
                  <a:lnTo>
                    <a:pt x="4129658" y="3055729"/>
                  </a:lnTo>
                  <a:lnTo>
                    <a:pt x="4092448" y="3063240"/>
                  </a:lnTo>
                  <a:lnTo>
                    <a:pt x="95503" y="3063240"/>
                  </a:lnTo>
                  <a:lnTo>
                    <a:pt x="58346" y="3055729"/>
                  </a:lnTo>
                  <a:lnTo>
                    <a:pt x="27987" y="3035252"/>
                  </a:lnTo>
                  <a:lnTo>
                    <a:pt x="7510" y="3004893"/>
                  </a:lnTo>
                  <a:lnTo>
                    <a:pt x="0" y="2967735"/>
                  </a:lnTo>
                  <a:lnTo>
                    <a:pt x="0" y="95503"/>
                  </a:lnTo>
                  <a:close/>
                </a:path>
              </a:pathLst>
            </a:custGeom>
            <a:ln w="30480">
              <a:solidFill>
                <a:srgbClr val="D1C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464809" y="3397440"/>
            <a:ext cx="270319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95" dirty="0">
                <a:solidFill>
                  <a:srgbClr val="443728"/>
                </a:solidFill>
                <a:latin typeface="Times New Roman"/>
                <a:cs typeface="Times New Roman"/>
              </a:rPr>
              <a:t>Aprendizajes</a:t>
            </a:r>
            <a:r>
              <a:rPr sz="2200" b="1" spc="-4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200" b="1" spc="-50" dirty="0">
                <a:solidFill>
                  <a:srgbClr val="443728"/>
                </a:solidFill>
                <a:latin typeface="Times New Roman"/>
                <a:cs typeface="Times New Roman"/>
              </a:rPr>
              <a:t>Obtenidos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64809" y="3859034"/>
            <a:ext cx="3361054" cy="186563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5"/>
              </a:spcBef>
              <a:buChar char="•"/>
              <a:tabLst>
                <a:tab pos="355600" algn="l"/>
              </a:tabLst>
            </a:pP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Importancia</a:t>
            </a:r>
            <a:r>
              <a:rPr sz="1700" spc="-114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planificación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5"/>
              </a:spcBef>
              <a:buChar char="•"/>
              <a:tabLst>
                <a:tab pos="355600" algn="l"/>
              </a:tabLst>
            </a:pP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Práctica</a:t>
            </a:r>
            <a:r>
              <a:rPr sz="1700" spc="-4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100" dirty="0">
                <a:solidFill>
                  <a:srgbClr val="443728"/>
                </a:solidFill>
                <a:latin typeface="Tahoma"/>
                <a:cs typeface="Tahoma"/>
              </a:rPr>
              <a:t>con</a:t>
            </a:r>
            <a:r>
              <a:rPr sz="1700" spc="-7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estructuras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endParaRPr sz="17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915"/>
              </a:spcBef>
            </a:pP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datos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Desarrollo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55" dirty="0">
                <a:solidFill>
                  <a:srgbClr val="443728"/>
                </a:solidFill>
                <a:latin typeface="Tahoma"/>
                <a:cs typeface="Tahoma"/>
              </a:rPr>
              <a:t>lógica</a:t>
            </a:r>
            <a:r>
              <a:rPr sz="1700" spc="-11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30" dirty="0">
                <a:solidFill>
                  <a:srgbClr val="443728"/>
                </a:solidFill>
                <a:latin typeface="Tahoma"/>
                <a:cs typeface="Tahoma"/>
              </a:rPr>
              <a:t>juego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4"/>
              </a:spcBef>
              <a:buChar char="•"/>
              <a:tabLst>
                <a:tab pos="355600" algn="l"/>
              </a:tabLst>
            </a:pPr>
            <a:r>
              <a:rPr sz="1700" spc="90" dirty="0">
                <a:solidFill>
                  <a:srgbClr val="443728"/>
                </a:solidFill>
                <a:latin typeface="Tahoma"/>
                <a:cs typeface="Tahoma"/>
              </a:rPr>
              <a:t>Depuración</a:t>
            </a:r>
            <a:r>
              <a:rPr sz="1700" spc="-7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y</a:t>
            </a:r>
            <a:r>
              <a:rPr sz="1700" spc="-9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5" dirty="0">
                <a:solidFill>
                  <a:srgbClr val="443728"/>
                </a:solidFill>
                <a:latin typeface="Tahoma"/>
                <a:cs typeface="Tahoma"/>
              </a:rPr>
              <a:t>pruebas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627107" y="3153155"/>
            <a:ext cx="4227830" cy="3093720"/>
            <a:chOff x="9627107" y="3153155"/>
            <a:chExt cx="4227830" cy="3093720"/>
          </a:xfrm>
        </p:grpSpPr>
        <p:sp>
          <p:nvSpPr>
            <p:cNvPr id="14" name="object 14"/>
            <p:cNvSpPr/>
            <p:nvPr/>
          </p:nvSpPr>
          <p:spPr>
            <a:xfrm>
              <a:off x="9642347" y="3168395"/>
              <a:ext cx="4197350" cy="3063240"/>
            </a:xfrm>
            <a:custGeom>
              <a:avLst/>
              <a:gdLst/>
              <a:ahLst/>
              <a:cxnLst/>
              <a:rect l="l" t="t" r="r" b="b"/>
              <a:pathLst>
                <a:path w="4197350" h="3063240">
                  <a:moveTo>
                    <a:pt x="4101592" y="0"/>
                  </a:moveTo>
                  <a:lnTo>
                    <a:pt x="95503" y="0"/>
                  </a:lnTo>
                  <a:lnTo>
                    <a:pt x="58293" y="7492"/>
                  </a:lnTo>
                  <a:lnTo>
                    <a:pt x="27940" y="27939"/>
                  </a:lnTo>
                  <a:lnTo>
                    <a:pt x="7493" y="58292"/>
                  </a:lnTo>
                  <a:lnTo>
                    <a:pt x="0" y="95503"/>
                  </a:lnTo>
                  <a:lnTo>
                    <a:pt x="0" y="2967735"/>
                  </a:lnTo>
                  <a:lnTo>
                    <a:pt x="7493" y="3004946"/>
                  </a:lnTo>
                  <a:lnTo>
                    <a:pt x="27940" y="3035299"/>
                  </a:lnTo>
                  <a:lnTo>
                    <a:pt x="58293" y="3055747"/>
                  </a:lnTo>
                  <a:lnTo>
                    <a:pt x="95503" y="3063240"/>
                  </a:lnTo>
                  <a:lnTo>
                    <a:pt x="4101592" y="3063240"/>
                  </a:lnTo>
                  <a:lnTo>
                    <a:pt x="4138802" y="3055747"/>
                  </a:lnTo>
                  <a:lnTo>
                    <a:pt x="4169155" y="3035300"/>
                  </a:lnTo>
                  <a:lnTo>
                    <a:pt x="4189603" y="3004947"/>
                  </a:lnTo>
                  <a:lnTo>
                    <a:pt x="4197096" y="2967735"/>
                  </a:lnTo>
                  <a:lnTo>
                    <a:pt x="4197096" y="95503"/>
                  </a:lnTo>
                  <a:lnTo>
                    <a:pt x="4189603" y="58292"/>
                  </a:lnTo>
                  <a:lnTo>
                    <a:pt x="4169155" y="27939"/>
                  </a:lnTo>
                  <a:lnTo>
                    <a:pt x="4138802" y="7492"/>
                  </a:lnTo>
                  <a:lnTo>
                    <a:pt x="4101592" y="0"/>
                  </a:lnTo>
                  <a:close/>
                </a:path>
              </a:pathLst>
            </a:custGeom>
            <a:solidFill>
              <a:srgbClr val="FFFB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42347" y="3168395"/>
              <a:ext cx="4197350" cy="3063240"/>
            </a:xfrm>
            <a:custGeom>
              <a:avLst/>
              <a:gdLst/>
              <a:ahLst/>
              <a:cxnLst/>
              <a:rect l="l" t="t" r="r" b="b"/>
              <a:pathLst>
                <a:path w="4197350" h="3063240">
                  <a:moveTo>
                    <a:pt x="0" y="95503"/>
                  </a:moveTo>
                  <a:lnTo>
                    <a:pt x="7493" y="58292"/>
                  </a:lnTo>
                  <a:lnTo>
                    <a:pt x="27940" y="27939"/>
                  </a:lnTo>
                  <a:lnTo>
                    <a:pt x="58293" y="7492"/>
                  </a:lnTo>
                  <a:lnTo>
                    <a:pt x="95503" y="0"/>
                  </a:lnTo>
                  <a:lnTo>
                    <a:pt x="4101592" y="0"/>
                  </a:lnTo>
                  <a:lnTo>
                    <a:pt x="4138802" y="7492"/>
                  </a:lnTo>
                  <a:lnTo>
                    <a:pt x="4169155" y="27939"/>
                  </a:lnTo>
                  <a:lnTo>
                    <a:pt x="4189603" y="58292"/>
                  </a:lnTo>
                  <a:lnTo>
                    <a:pt x="4197096" y="95503"/>
                  </a:lnTo>
                  <a:lnTo>
                    <a:pt x="4197096" y="2967735"/>
                  </a:lnTo>
                  <a:lnTo>
                    <a:pt x="4189603" y="3004947"/>
                  </a:lnTo>
                  <a:lnTo>
                    <a:pt x="4169155" y="3035300"/>
                  </a:lnTo>
                  <a:lnTo>
                    <a:pt x="4138802" y="3055747"/>
                  </a:lnTo>
                  <a:lnTo>
                    <a:pt x="4101592" y="3063240"/>
                  </a:lnTo>
                  <a:lnTo>
                    <a:pt x="95503" y="3063240"/>
                  </a:lnTo>
                  <a:lnTo>
                    <a:pt x="58293" y="3055747"/>
                  </a:lnTo>
                  <a:lnTo>
                    <a:pt x="27940" y="3035299"/>
                  </a:lnTo>
                  <a:lnTo>
                    <a:pt x="7493" y="3004946"/>
                  </a:lnTo>
                  <a:lnTo>
                    <a:pt x="0" y="2967735"/>
                  </a:lnTo>
                  <a:lnTo>
                    <a:pt x="0" y="95503"/>
                  </a:lnTo>
                  <a:close/>
                </a:path>
              </a:pathLst>
            </a:custGeom>
            <a:ln w="30480">
              <a:solidFill>
                <a:srgbClr val="D1C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890886" y="3397440"/>
            <a:ext cx="1814830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135" dirty="0">
                <a:solidFill>
                  <a:srgbClr val="443728"/>
                </a:solidFill>
                <a:latin typeface="Times New Roman"/>
                <a:cs typeface="Times New Roman"/>
              </a:rPr>
              <a:t>Valor</a:t>
            </a:r>
            <a:r>
              <a:rPr sz="2200" b="1" spc="-10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200" b="1" spc="-70" dirty="0">
                <a:solidFill>
                  <a:srgbClr val="443728"/>
                </a:solidFill>
                <a:latin typeface="Times New Roman"/>
                <a:cs typeface="Times New Roman"/>
              </a:rPr>
              <a:t>Educativo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90886" y="3859034"/>
            <a:ext cx="3623945" cy="149923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5"/>
              </a:spcBef>
              <a:buChar char="•"/>
              <a:tabLst>
                <a:tab pos="355600" algn="l"/>
              </a:tabLst>
            </a:pP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Refuerzo</a:t>
            </a:r>
            <a:r>
              <a:rPr sz="1700" spc="-8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5" dirty="0">
                <a:solidFill>
                  <a:srgbClr val="443728"/>
                </a:solidFill>
                <a:latin typeface="Tahoma"/>
                <a:cs typeface="Tahoma"/>
              </a:rPr>
              <a:t>conceptos</a:t>
            </a:r>
            <a:r>
              <a:rPr sz="1700" spc="-13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teóricos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5"/>
              </a:spcBef>
              <a:buChar char="•"/>
              <a:tabLst>
                <a:tab pos="355600" algn="l"/>
              </a:tabLst>
            </a:pP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Aplicación</a:t>
            </a:r>
            <a:r>
              <a:rPr sz="1700" spc="-8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práctica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inmediata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15"/>
              </a:spcBef>
              <a:buChar char="•"/>
              <a:tabLst>
                <a:tab pos="355600" algn="l"/>
              </a:tabLst>
            </a:pP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Comprensión</a:t>
            </a:r>
            <a:r>
              <a:rPr sz="1700" spc="-4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endParaRPr sz="17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840"/>
              </a:spcBef>
            </a:pP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modularización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486400" cy="7774305"/>
            <a:chOff x="0" y="0"/>
            <a:chExt cx="5486400" cy="7774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486399" cy="77740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463" y="2734055"/>
              <a:ext cx="4919472" cy="276148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71386" y="1852040"/>
            <a:ext cx="7105650" cy="706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45" dirty="0"/>
              <a:t>Limitaciones</a:t>
            </a:r>
            <a:r>
              <a:rPr spc="-229" dirty="0"/>
              <a:t> </a:t>
            </a:r>
            <a:r>
              <a:rPr spc="-185" dirty="0"/>
              <a:t>y</a:t>
            </a:r>
            <a:r>
              <a:rPr spc="-250" dirty="0"/>
              <a:t> </a:t>
            </a:r>
            <a:r>
              <a:rPr spc="-229" dirty="0"/>
              <a:t>Mejoras </a:t>
            </a:r>
            <a:r>
              <a:rPr spc="-140" dirty="0"/>
              <a:t>Futuras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71386" y="3147631"/>
            <a:ext cx="247713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75" dirty="0">
                <a:solidFill>
                  <a:srgbClr val="443728"/>
                </a:solidFill>
                <a:latin typeface="Times New Roman"/>
                <a:cs typeface="Times New Roman"/>
              </a:rPr>
              <a:t>Limitaciones</a:t>
            </a:r>
            <a:r>
              <a:rPr sz="2200" b="1" spc="-50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200" b="1" spc="-60" dirty="0">
                <a:solidFill>
                  <a:srgbClr val="443728"/>
                </a:solidFill>
                <a:latin typeface="Times New Roman"/>
                <a:cs typeface="Times New Roman"/>
              </a:rPr>
              <a:t>Actuales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1386" y="3700284"/>
            <a:ext cx="3456304" cy="186563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5"/>
              </a:spcBef>
              <a:buChar char="•"/>
              <a:tabLst>
                <a:tab pos="355600" algn="l"/>
              </a:tabLst>
            </a:pPr>
            <a:r>
              <a:rPr sz="1700" spc="45" dirty="0">
                <a:solidFill>
                  <a:srgbClr val="443728"/>
                </a:solidFill>
                <a:latin typeface="Tahoma"/>
                <a:cs typeface="Tahoma"/>
              </a:rPr>
              <a:t>Interfaz</a:t>
            </a:r>
            <a:r>
              <a:rPr sz="1700" spc="-11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solo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en</a:t>
            </a:r>
            <a:r>
              <a:rPr sz="1700" spc="-7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consola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Sin</a:t>
            </a:r>
            <a:r>
              <a:rPr sz="1700" spc="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persistencia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100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1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datos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20"/>
              </a:spcBef>
              <a:buChar char="•"/>
              <a:tabLst>
                <a:tab pos="355600" algn="l"/>
              </a:tabLst>
            </a:pPr>
            <a:r>
              <a:rPr sz="1700" spc="85" dirty="0">
                <a:solidFill>
                  <a:srgbClr val="443728"/>
                </a:solidFill>
                <a:latin typeface="Tahoma"/>
                <a:cs typeface="Tahoma"/>
              </a:rPr>
              <a:t>Cantidad</a:t>
            </a:r>
            <a:r>
              <a:rPr sz="1700" spc="-6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limitada</a:t>
            </a:r>
            <a:r>
              <a:rPr sz="1700" spc="-3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4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palabras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Sin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validación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avanzada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5"/>
              </a:spcBef>
              <a:buChar char="•"/>
              <a:tabLst>
                <a:tab pos="355600" algn="l"/>
              </a:tabLst>
            </a:pP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Juego</a:t>
            </a:r>
            <a:r>
              <a:rPr sz="1700" spc="-3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secuencial</a:t>
            </a:r>
            <a:r>
              <a:rPr sz="1700" spc="-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simple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36403" y="3147631"/>
            <a:ext cx="189674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spc="-60" dirty="0">
                <a:solidFill>
                  <a:srgbClr val="443728"/>
                </a:solidFill>
                <a:latin typeface="Times New Roman"/>
                <a:cs typeface="Times New Roman"/>
              </a:rPr>
              <a:t>Posibles</a:t>
            </a:r>
            <a:r>
              <a:rPr sz="2200" b="1" spc="-65" dirty="0">
                <a:solidFill>
                  <a:srgbClr val="443728"/>
                </a:solidFill>
                <a:latin typeface="Times New Roman"/>
                <a:cs typeface="Times New Roman"/>
              </a:rPr>
              <a:t> </a:t>
            </a:r>
            <a:r>
              <a:rPr sz="2200" b="1" spc="-95" dirty="0">
                <a:solidFill>
                  <a:srgbClr val="443728"/>
                </a:solidFill>
                <a:latin typeface="Times New Roman"/>
                <a:cs typeface="Times New Roman"/>
              </a:rPr>
              <a:t>Mejoras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36403" y="3700284"/>
            <a:ext cx="3259454" cy="186563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5"/>
              </a:spcBef>
              <a:buChar char="•"/>
              <a:tabLst>
                <a:tab pos="355600" algn="l"/>
              </a:tabLst>
            </a:pPr>
            <a:r>
              <a:rPr sz="1700" spc="45" dirty="0">
                <a:solidFill>
                  <a:srgbClr val="443728"/>
                </a:solidFill>
                <a:latin typeface="Tahoma"/>
                <a:cs typeface="Tahoma"/>
              </a:rPr>
              <a:t>Interfaz</a:t>
            </a:r>
            <a:r>
              <a:rPr sz="1700" spc="-11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45" dirty="0">
                <a:solidFill>
                  <a:srgbClr val="443728"/>
                </a:solidFill>
                <a:latin typeface="Tahoma"/>
                <a:cs typeface="Tahoma"/>
              </a:rPr>
              <a:t>gráfica</a:t>
            </a:r>
            <a:r>
              <a:rPr sz="1700" spc="-4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con</a:t>
            </a:r>
            <a:r>
              <a:rPr sz="170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40" dirty="0">
                <a:solidFill>
                  <a:srgbClr val="443728"/>
                </a:solidFill>
                <a:latin typeface="Tahoma"/>
                <a:cs typeface="Tahoma"/>
              </a:rPr>
              <a:t>Tkinter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Sistema</a:t>
            </a:r>
            <a:r>
              <a:rPr sz="1700" spc="-5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5" dirty="0">
                <a:solidFill>
                  <a:srgbClr val="443728"/>
                </a:solidFill>
                <a:latin typeface="Tahoma"/>
                <a:cs typeface="Tahoma"/>
              </a:rPr>
              <a:t>puntuación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20"/>
              </a:spcBef>
              <a:buChar char="•"/>
              <a:tabLst>
                <a:tab pos="355600" algn="l"/>
              </a:tabLst>
            </a:pP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Archivo</a:t>
            </a:r>
            <a:r>
              <a:rPr sz="1700" spc="-65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6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80" dirty="0">
                <a:solidFill>
                  <a:srgbClr val="443728"/>
                </a:solidFill>
                <a:latin typeface="Tahoma"/>
                <a:cs typeface="Tahoma"/>
              </a:rPr>
              <a:t>palabras</a:t>
            </a:r>
            <a:r>
              <a:rPr sz="1700" spc="-13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externo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Niveles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0" dirty="0">
                <a:solidFill>
                  <a:srgbClr val="443728"/>
                </a:solidFill>
                <a:latin typeface="Tahoma"/>
                <a:cs typeface="Tahoma"/>
              </a:rPr>
              <a:t>dificultad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45"/>
              </a:spcBef>
              <a:buChar char="•"/>
              <a:tabLst>
                <a:tab pos="355600" algn="l"/>
              </a:tabLst>
            </a:pPr>
            <a:r>
              <a:rPr sz="1700" spc="70" dirty="0">
                <a:solidFill>
                  <a:srgbClr val="443728"/>
                </a:solidFill>
                <a:latin typeface="Tahoma"/>
                <a:cs typeface="Tahoma"/>
              </a:rPr>
              <a:t>Historial</a:t>
            </a:r>
            <a:r>
              <a:rPr sz="1700" spc="-2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95" dirty="0">
                <a:solidFill>
                  <a:srgbClr val="443728"/>
                </a:solidFill>
                <a:latin typeface="Tahoma"/>
                <a:cs typeface="Tahoma"/>
              </a:rPr>
              <a:t>de</a:t>
            </a:r>
            <a:r>
              <a:rPr sz="1700" spc="-50" dirty="0">
                <a:solidFill>
                  <a:srgbClr val="443728"/>
                </a:solidFill>
                <a:latin typeface="Tahoma"/>
                <a:cs typeface="Tahoma"/>
              </a:rPr>
              <a:t> </a:t>
            </a:r>
            <a:r>
              <a:rPr sz="1700" spc="65" dirty="0">
                <a:solidFill>
                  <a:srgbClr val="443728"/>
                </a:solidFill>
                <a:latin typeface="Tahoma"/>
                <a:cs typeface="Tahoma"/>
              </a:rPr>
              <a:t>partidas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526</Words>
  <Application>Microsoft Macintosh PowerPoint</Application>
  <PresentationFormat>Custom</PresentationFormat>
  <Paragraphs>144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Tahoma</vt:lpstr>
      <vt:lpstr>Times New Roman</vt:lpstr>
      <vt:lpstr>Office Theme</vt:lpstr>
      <vt:lpstr>PowerPoint Presentation</vt:lpstr>
      <vt:lpstr>Descripción:</vt:lpstr>
      <vt:lpstr>Objetivo:</vt:lpstr>
      <vt:lpstr>Funcionamiento</vt:lpstr>
      <vt:lpstr>Estructuras de Datos</vt:lpstr>
      <vt:lpstr>Funciones Implementadas</vt:lpstr>
      <vt:lpstr>Estructuras de Control</vt:lpstr>
      <vt:lpstr>Integración de las Cuatro Unidades</vt:lpstr>
      <vt:lpstr>Conclusiones</vt:lpstr>
      <vt:lpstr>Limitaciones y Mejoras Futuras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CARRERA LAVAYEN ELIAB</cp:lastModifiedBy>
  <cp:revision>2</cp:revision>
  <dcterms:created xsi:type="dcterms:W3CDTF">2026-03-01T21:10:47Z</dcterms:created>
  <dcterms:modified xsi:type="dcterms:W3CDTF">2026-03-01T21:24:23Z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2026-03-01T00:00:00Z</vt:filetime>
  </property>
  <property fmtid="{D5CDD505-2E9C-101B-9397-08002B2CF9AE}" pid="3" name="LastSaved">
    <vt:filetime>2026-03-01T00:00:00Z</vt:filetime>
  </property>
</Properties>
</file>